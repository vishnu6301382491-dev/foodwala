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(15s): FoodWala is an enterprise-grade food discovery and delivery platform for Bengaluru. Beyond the base project requirements, it integrates real-time Haversine geolocation, typo-tolerant search, Razorpay checkout, and OWASP-grade security.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(25s): Our tech stack leverages Java 17 Servlets and JSP under a clean MVC architecture, paired with MySQL 8.0 containing 19 normalized tables. On the frontend, we use Bootstrap 5.3, Leaflet maps, and jsPDF, backed by Argon2id password hashing and Razorpay sandbox payments.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(20s): Here is our project structure organized in Eclipse. Notice the strict MVC separation: controllers in com.tap.controller, data access objects in com.tap.dao and daoimpl, domain models in com.tap.model, and business logic like order placement in com.tap.service.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(25s): This is our entity-relationship diagram for the fudwala database. Primary relationships include user to orders, restaurant to menu, orders to order_item, and a one-to-one relationship between orders and payment. All operational data is maintained with strict referential integrity.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5.1 shows the Home &amp; Food Discovery Page. As you can see, Hyperlocal Bengaluru curation, 3D animated category cards, trending restaurants, and typo-tolerant search.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5.2 shows the User Registration Page. As you can see, Indian 10-digit mobile phone normalization, blur duplicate phone modal, and Argon2id hash storage.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5.3 shows the User Login &amp; Security Shield. As you can see, Secure sign-in, 5-attempt automated account lockout protection, and self-service password recovery.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5.4 shows the Restaurant Discovery &amp; Filters. As you can see, Dynamic cuisine filters (Biryani, Dosa, Continental), rating badges, delivery time indicators, and price sorting.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5.5 shows the Restaurant Menu &amp; Customization. As you can see, Live categorized menu items with veg/non-veg tags, quantity modifiers, and real-time floating cart sync.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5.6 shows the Interactive Cart &amp; Coupons. As you can see, Dynamic bill computation, delivery charges, and server-validated promo codes (FOODWALA50, WELCOME).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5.7 shows the Delivery Address &amp; Checkout. As you can see, Saved addresses selector, delivery instructions, Razorpay test sandbox modal, and Cash on Delivery option.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5.8 shows the Order Confirmation &amp; Token. As you can see, Atomic transaction summary, order token ID, delivery ETA, and automated Dual EmailJS dispatch.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5.9 shows the Real-Time Order Tracking. As you can see, 5-stage progress timeline (Placed ➔ Confirmed ➔ Prepared ➔ Out for Delivery ➔ Delivered) and driver map.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5.10 shows the Order History &amp; Invoices. As you can see, Past orders dashboard, re-order shortcuts, status audits, and one-click jsPDF downloadable tax invoice.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5.11 shows the User Profile &amp; Security Hub. As you can see, Saved addresses manager, password update with validation rules, notification preferences, and session logs.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5.12 shows the Restaurant Partner Portal. As you can see, Live incoming orders pipeline, order state dispatch controls (Accept/Dispatch), and menu inventory toggle.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(10s): Slide 5.13 shows the Operational Admin Portal. As you can see, Real-time business KPIs (Revenue, Total Orders, Active Users), user lockout management, and security audit log.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(25s): The key extra features we built beyond the base requirements are: first, a Hyperlocal Geolocation Engine calculating dynamic delivery fees; second, a Typo-Tolerant Search using Levenshtein distance; third, OWASP-grade security with Argon2id and brute-force lockout; and fourth, Razorpay sandbox with jsPDF invoices.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(30s): Here are our three most critical algorithms: the Haversine formula for computing spherical GPS distance in kilometers; the Levenshtein dynamic programming algorithm for typo-tolerant fuzzy search; and atomic ACID transaction orchestration with con.setAutoCommit(false) ensuring zero orphaned records during checkout.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(25s): The biggest challenge was race conditions and transaction inconsistency during checkout. If a user clicked twice or if payment succeeded but cart clearing failed, data became inconsistent. We solved this by implementing atomic ACID transactions in Java JDBC, coupled with client-side UI debouncing and unique transaction idempotency keys.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(20s): Looking ahead, our future roadmap includes: 1) Real-time WebSockets driver GPS tracking; 2) AI-powered recommendation models; 3) Native Flutter mobile apps; and 4) Multi-city geofenced scaling with automated vendor payout settlements.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01 OF 09 • PROJECT INTRODUCTION</a:t>
            </a:r>
          </a:p>
          <a:p>
            <a:pPr>
              <a:defRPr sz="2200" b="1">
                <a:solidFill>
                  <a:srgbClr val="F8FAFC"/>
                </a:solidFill>
                <a:latin typeface="Segoe UI"/>
              </a:defRPr>
            </a:pPr>
            <a:r>
              <a:t>FoodWala — Hyperlocal Food Discovery &amp; Delivery Platform</a:t>
            </a:r>
          </a:p>
          <a:p>
            <a:pPr>
              <a:defRPr sz="1200">
                <a:solidFill>
                  <a:srgbClr val="94A3B8"/>
                </a:solidFill>
                <a:latin typeface="Segoe UI"/>
              </a:defRPr>
            </a:pPr>
            <a:r>
              <a:t>Built beyond standard requirements for Bengaluru's culinary ecosystem</a:t>
            </a:r>
          </a:p>
        </p:txBody>
      </p:sp>
      <p:sp>
        <p:nvSpPr>
          <p:cNvPr id="4" name="Rounded Rectangle 3"/>
          <p:cNvSpPr/>
          <p:nvPr/>
        </p:nvSpPr>
        <p:spPr>
          <a:xfrm>
            <a:off x="731520" y="1645920"/>
            <a:ext cx="10728655" cy="45720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548640" tIns="457200" rIns="548640"/>
          <a:lstStyle/>
          <a:p>
            <a:pPr algn="ctr">
              <a:defRPr sz="1200" b="1">
                <a:solidFill>
                  <a:srgbClr val="F59E0B"/>
                </a:solidFill>
                <a:latin typeface="Segoe UI"/>
              </a:defRPr>
            </a:pPr>
            <a:r>
              <a:t>ONE-LINE PROJECT DEFINITION</a:t>
            </a:r>
          </a:p>
          <a:p>
            <a:pPr>
              <a:spcBef>
                <a:spcPts val="1400"/>
              </a:spcBef>
              <a:spcAft>
                <a:spcPts val="2000"/>
              </a:spcAft>
              <a:defRPr sz="2000" b="1">
                <a:solidFill>
                  <a:srgbClr val="F8FAFC"/>
                </a:solidFill>
                <a:latin typeface="Segoe UI"/>
              </a:defRPr>
            </a:pPr>
            <a:r>
              <a:t>FoodWala is an enterprise-grade food discovery and delivery web platform designed for Bengaluru, combining real-time Haversine geolocation, typo-tolerant Levenshtein search, Razorpay sandbox checkout, and OWASP-grade security.</a:t>
            </a:r>
          </a:p>
          <a:p>
            <a:pPr>
              <a:spcAft>
                <a:spcPts val="800"/>
              </a:spcAft>
              <a:defRPr b="1" sz="1300">
                <a:solidFill>
                  <a:srgbClr val="FF5200"/>
                </a:solidFill>
              </a:defRPr>
            </a:pPr>
            <a:r>
              <a:t>•  📍 Hyperlocal Bengaluru Discovery: </a:t>
            </a:r>
            <a:r>
              <a:rPr b="0">
                <a:solidFill>
                  <a:srgbClr val="94A3B8"/>
                </a:solidFill>
              </a:rPr>
              <a:t>Curated 105+ iconic Bengaluru food landmarks (CTR, Vidyarthi Bhavan, MTR, Truffles, Meghana Foods) with live coordinate mapping.</a:t>
            </a:r>
          </a:p>
          <a:p>
            <a:pPr>
              <a:spcAft>
                <a:spcPts val="800"/>
              </a:spcAft>
              <a:defRPr b="1" sz="1300">
                <a:solidFill>
                  <a:srgbClr val="10B981"/>
                </a:solidFill>
              </a:defRPr>
            </a:pPr>
            <a:r>
              <a:t>•  ⚡ ACID Multi-Table Checkout: </a:t>
            </a:r>
            <a:r>
              <a:rPr b="0">
                <a:solidFill>
                  <a:srgbClr val="94A3B8"/>
                </a:solidFill>
              </a:rPr>
              <a:t>Atomic transaction orchestration updating orders, order_item, payment, and cart in a single commit with double-click idempotency locks.</a:t>
            </a:r>
          </a:p>
          <a:p>
            <a:pPr>
              <a:spcAft>
                <a:spcPts val="800"/>
              </a:spcAft>
              <a:defRPr b="1" sz="1300">
                <a:solidFill>
                  <a:srgbClr val="38BDF8"/>
                </a:solidFill>
              </a:defRPr>
            </a:pPr>
            <a:r>
              <a:t>•  🛡️ OWASP-Grade Security: </a:t>
            </a:r>
            <a:r>
              <a:rPr b="0">
                <a:solidFill>
                  <a:srgbClr val="94A3B8"/>
                </a:solidFill>
              </a:rPr>
              <a:t>Argon2id cryptographic password hashing, automated 5-attempt account lockout shield, and tamper-proof login audit logging.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02 OF 09 • TECH STACK</a:t>
            </a:r>
          </a:p>
          <a:p>
            <a:pPr>
              <a:defRPr sz="2200" b="1">
                <a:solidFill>
                  <a:srgbClr val="F8FAFC"/>
                </a:solidFill>
                <a:latin typeface="Segoe UI"/>
              </a:defRPr>
            </a:pPr>
            <a:r>
              <a:t>Modern Full-Stack Architecture</a:t>
            </a:r>
          </a:p>
          <a:p>
            <a:pPr>
              <a:defRPr sz="1200">
                <a:solidFill>
                  <a:srgbClr val="94A3B8"/>
                </a:solidFill>
                <a:latin typeface="Segoe UI"/>
              </a:defRPr>
            </a:pPr>
            <a:r>
              <a:t>Languages, Frameworks, Database, Security &amp; Developer Tooling</a:t>
            </a:r>
          </a:p>
        </p:txBody>
      </p:sp>
      <p:sp>
        <p:nvSpPr>
          <p:cNvPr id="4" name="Rounded Rectangle 3"/>
          <p:cNvSpPr/>
          <p:nvPr/>
        </p:nvSpPr>
        <p:spPr>
          <a:xfrm>
            <a:off x="731520" y="1645920"/>
            <a:ext cx="34134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400" b="1">
                <a:solidFill>
                  <a:srgbClr val="FF5200"/>
                </a:solidFill>
                <a:latin typeface="Segoe UI"/>
              </a:defRPr>
            </a:pPr>
            <a:r>
              <a:t>💻 Languages</a:t>
            </a:r>
          </a:p>
          <a:p>
            <a:pPr>
              <a:spcAft>
                <a:spcPts val="300"/>
              </a:spcAft>
              <a:defRPr sz="1100">
                <a:solidFill>
                  <a:srgbClr val="E2E8F0"/>
                </a:solidFill>
                <a:latin typeface="Segoe UI"/>
              </a:defRPr>
            </a:pPr>
            <a:r>
              <a:t>•  Java 17 (OOP, Multithreading, Streams)</a:t>
            </a:r>
          </a:p>
          <a:p>
            <a:pPr>
              <a:spcAft>
                <a:spcPts val="300"/>
              </a:spcAft>
              <a:defRPr sz="1100">
                <a:solidFill>
                  <a:srgbClr val="E2E8F0"/>
                </a:solidFill>
                <a:latin typeface="Segoe UI"/>
              </a:defRPr>
            </a:pPr>
            <a:r>
              <a:t>•  JavaScript ES6+ (Async/Await, DOM)</a:t>
            </a:r>
          </a:p>
          <a:p>
            <a:pPr>
              <a:spcAft>
                <a:spcPts val="300"/>
              </a:spcAft>
              <a:defRPr sz="1100">
                <a:solidFill>
                  <a:srgbClr val="E2E8F0"/>
                </a:solidFill>
                <a:latin typeface="Segoe UI"/>
              </a:defRPr>
            </a:pPr>
            <a:r>
              <a:t>•  SQL (MySQL 8.0 DDL/DML, Procedures)</a:t>
            </a:r>
          </a:p>
          <a:p>
            <a:pPr>
              <a:spcAft>
                <a:spcPts val="300"/>
              </a:spcAft>
              <a:defRPr sz="1100">
                <a:solidFill>
                  <a:srgbClr val="E2E8F0"/>
                </a:solidFill>
                <a:latin typeface="Segoe UI"/>
              </a:defRPr>
            </a:pPr>
            <a:r>
              <a:t>•  HTML5 &amp; CSS3 (Semantic, Grid, Flexbox)</a:t>
            </a:r>
          </a:p>
        </p:txBody>
      </p:sp>
      <p:sp>
        <p:nvSpPr>
          <p:cNvPr id="5" name="Rounded Rectangle 4"/>
          <p:cNvSpPr/>
          <p:nvPr/>
        </p:nvSpPr>
        <p:spPr>
          <a:xfrm>
            <a:off x="4389120" y="1645920"/>
            <a:ext cx="34134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400" b="1">
                <a:solidFill>
                  <a:srgbClr val="38BDF8"/>
                </a:solidFill>
                <a:latin typeface="Segoe UI"/>
              </a:defRPr>
            </a:pPr>
            <a:r>
              <a:t>⚙️ Backend &amp; Architecture</a:t>
            </a:r>
          </a:p>
          <a:p>
            <a:pPr>
              <a:spcAft>
                <a:spcPts val="300"/>
              </a:spcAft>
              <a:defRPr sz="1100">
                <a:solidFill>
                  <a:srgbClr val="E2E8F0"/>
                </a:solidFill>
                <a:latin typeface="Segoe UI"/>
              </a:defRPr>
            </a:pPr>
            <a:r>
              <a:t>•  Java EE Servlets &amp; JSP (MVC Pattern)</a:t>
            </a:r>
          </a:p>
          <a:p>
            <a:pPr>
              <a:spcAft>
                <a:spcPts val="300"/>
              </a:spcAft>
              <a:defRPr sz="1100">
                <a:solidFill>
                  <a:srgbClr val="E2E8F0"/>
                </a:solidFill>
                <a:latin typeface="Segoe UI"/>
              </a:defRPr>
            </a:pPr>
            <a:r>
              <a:t>•  Node.js &amp; Express (Auth Microservice)</a:t>
            </a:r>
          </a:p>
          <a:p>
            <a:pPr>
              <a:spcAft>
                <a:spcPts val="300"/>
              </a:spcAft>
              <a:defRPr sz="1100">
                <a:solidFill>
                  <a:srgbClr val="E2E8F0"/>
                </a:solidFill>
                <a:latin typeface="Segoe UI"/>
              </a:defRPr>
            </a:pPr>
            <a:r>
              <a:t>•  Apache Tomcat 11.0 App Server</a:t>
            </a:r>
          </a:p>
          <a:p>
            <a:pPr>
              <a:spcAft>
                <a:spcPts val="300"/>
              </a:spcAft>
              <a:defRPr sz="1100">
                <a:solidFill>
                  <a:srgbClr val="E2E8F0"/>
                </a:solidFill>
                <a:latin typeface="Segoe UI"/>
              </a:defRPr>
            </a:pPr>
            <a:r>
              <a:t>•  DAO Abstraction &amp; Connection Pooling</a:t>
            </a:r>
          </a:p>
        </p:txBody>
      </p:sp>
      <p:sp>
        <p:nvSpPr>
          <p:cNvPr id="6" name="Rounded Rectangle 5"/>
          <p:cNvSpPr/>
          <p:nvPr/>
        </p:nvSpPr>
        <p:spPr>
          <a:xfrm>
            <a:off x="8046720" y="1645920"/>
            <a:ext cx="34134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400" b="1">
                <a:solidFill>
                  <a:srgbClr val="10B981"/>
                </a:solidFill>
                <a:latin typeface="Segoe UI"/>
              </a:defRPr>
            </a:pPr>
            <a:r>
              <a:t>🗄️ Database &amp; Storage</a:t>
            </a:r>
          </a:p>
          <a:p>
            <a:pPr>
              <a:spcAft>
                <a:spcPts val="300"/>
              </a:spcAft>
              <a:defRPr sz="1100">
                <a:solidFill>
                  <a:srgbClr val="E2E8F0"/>
                </a:solidFill>
                <a:latin typeface="Segoe UI"/>
              </a:defRPr>
            </a:pPr>
            <a:r>
              <a:t>•  MySQL 8.0 Relational Database (fudwala)</a:t>
            </a:r>
          </a:p>
          <a:p>
            <a:pPr>
              <a:spcAft>
                <a:spcPts val="300"/>
              </a:spcAft>
              <a:defRPr sz="1100">
                <a:solidFill>
                  <a:srgbClr val="E2E8F0"/>
                </a:solidFill>
                <a:latin typeface="Segoe UI"/>
              </a:defRPr>
            </a:pPr>
            <a:r>
              <a:t>•  19 Normalized Relational Tables</a:t>
            </a:r>
          </a:p>
          <a:p>
            <a:pPr>
              <a:spcAft>
                <a:spcPts val="300"/>
              </a:spcAft>
              <a:defRPr sz="1100">
                <a:solidFill>
                  <a:srgbClr val="E2E8F0"/>
                </a:solidFill>
                <a:latin typeface="Segoe UI"/>
              </a:defRPr>
            </a:pPr>
            <a:r>
              <a:t>•  ACID Transactions (InnoDB Engine)</a:t>
            </a:r>
          </a:p>
          <a:p>
            <a:pPr>
              <a:spcAft>
                <a:spcPts val="300"/>
              </a:spcAft>
              <a:defRPr sz="1100">
                <a:solidFill>
                  <a:srgbClr val="E2E8F0"/>
                </a:solidFill>
                <a:latin typeface="Segoe UI"/>
              </a:defRPr>
            </a:pPr>
            <a:r>
              <a:t>•  Prepared Statements (Zero SQL Injection)</a:t>
            </a:r>
          </a:p>
        </p:txBody>
      </p:sp>
      <p:sp>
        <p:nvSpPr>
          <p:cNvPr id="7" name="Rounded Rectangle 6"/>
          <p:cNvSpPr/>
          <p:nvPr/>
        </p:nvSpPr>
        <p:spPr>
          <a:xfrm>
            <a:off x="731520" y="4114800"/>
            <a:ext cx="34134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400" b="1">
                <a:solidFill>
                  <a:srgbClr val="F59E0B"/>
                </a:solidFill>
                <a:latin typeface="Segoe UI"/>
              </a:defRPr>
            </a:pPr>
            <a:r>
              <a:t>🎨 Frontend &amp; UI</a:t>
            </a:r>
          </a:p>
          <a:p>
            <a:pPr>
              <a:spcAft>
                <a:spcPts val="300"/>
              </a:spcAft>
              <a:defRPr sz="1100">
                <a:solidFill>
                  <a:srgbClr val="E2E8F0"/>
                </a:solidFill>
                <a:latin typeface="Segoe UI"/>
              </a:defRPr>
            </a:pPr>
            <a:r>
              <a:t>•  Bootstrap 5.3 &amp; Bootstrap Icons</a:t>
            </a:r>
          </a:p>
          <a:p>
            <a:pPr>
              <a:spcAft>
                <a:spcPts val="300"/>
              </a:spcAft>
              <a:defRPr sz="1100">
                <a:solidFill>
                  <a:srgbClr val="E2E8F0"/>
                </a:solidFill>
                <a:latin typeface="Segoe UI"/>
              </a:defRPr>
            </a:pPr>
            <a:r>
              <a:t>•  Leaflet.js (Interactive Geolocation)</a:t>
            </a:r>
          </a:p>
          <a:p>
            <a:pPr>
              <a:spcAft>
                <a:spcPts val="300"/>
              </a:spcAft>
              <a:defRPr sz="1100">
                <a:solidFill>
                  <a:srgbClr val="E2E8F0"/>
                </a:solidFill>
                <a:latin typeface="Segoe UI"/>
              </a:defRPr>
            </a:pPr>
            <a:r>
              <a:t>•  jsPDF (Client-Side Tax Invoices)</a:t>
            </a:r>
          </a:p>
          <a:p>
            <a:pPr>
              <a:spcAft>
                <a:spcPts val="300"/>
              </a:spcAft>
              <a:defRPr sz="1100">
                <a:solidFill>
                  <a:srgbClr val="E2E8F0"/>
                </a:solidFill>
                <a:latin typeface="Segoe UI"/>
              </a:defRPr>
            </a:pPr>
            <a:r>
              <a:t>•  SweetAlert2 &amp; Modern Responsive UI</a:t>
            </a:r>
          </a:p>
        </p:txBody>
      </p:sp>
      <p:sp>
        <p:nvSpPr>
          <p:cNvPr id="8" name="Rounded Rectangle 7"/>
          <p:cNvSpPr/>
          <p:nvPr/>
        </p:nvSpPr>
        <p:spPr>
          <a:xfrm>
            <a:off x="4389120" y="4114800"/>
            <a:ext cx="34134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400" b="1">
                <a:solidFill>
                  <a:srgbClr val="A855F7"/>
                </a:solidFill>
                <a:latin typeface="Segoe UI"/>
              </a:defRPr>
            </a:pPr>
            <a:r>
              <a:t>🔒 Security &amp; Payments</a:t>
            </a:r>
          </a:p>
          <a:p>
            <a:pPr>
              <a:spcAft>
                <a:spcPts val="300"/>
              </a:spcAft>
              <a:defRPr sz="1100">
                <a:solidFill>
                  <a:srgbClr val="E2E8F0"/>
                </a:solidFill>
                <a:latin typeface="Segoe UI"/>
              </a:defRPr>
            </a:pPr>
            <a:r>
              <a:t>•  Argon2id Cryptographic Hashing</a:t>
            </a:r>
          </a:p>
          <a:p>
            <a:pPr>
              <a:spcAft>
                <a:spcPts val="300"/>
              </a:spcAft>
              <a:defRPr sz="1100">
                <a:solidFill>
                  <a:srgbClr val="E2E8F0"/>
                </a:solidFill>
                <a:latin typeface="Segoe UI"/>
              </a:defRPr>
            </a:pPr>
            <a:r>
              <a:t>•  5-Attempt Account Lockout Protection</a:t>
            </a:r>
          </a:p>
          <a:p>
            <a:pPr>
              <a:spcAft>
                <a:spcPts val="300"/>
              </a:spcAft>
              <a:defRPr sz="1100">
                <a:solidFill>
                  <a:srgbClr val="E2E8F0"/>
                </a:solidFill>
                <a:latin typeface="Segoe UI"/>
              </a:defRPr>
            </a:pPr>
            <a:r>
              <a:t>•  Razorpay Sandbox API (HMAC SHA-256)</a:t>
            </a:r>
          </a:p>
          <a:p>
            <a:pPr>
              <a:spcAft>
                <a:spcPts val="300"/>
              </a:spcAft>
              <a:defRPr sz="1100">
                <a:solidFill>
                  <a:srgbClr val="E2E8F0"/>
                </a:solidFill>
                <a:latin typeface="Segoe UI"/>
              </a:defRPr>
            </a:pPr>
            <a:r>
              <a:t>•  Dual EmailJS Customer/Admin Receipts</a:t>
            </a:r>
          </a:p>
        </p:txBody>
      </p:sp>
      <p:sp>
        <p:nvSpPr>
          <p:cNvPr id="9" name="Rounded Rectangle 8"/>
          <p:cNvSpPr/>
          <p:nvPr/>
        </p:nvSpPr>
        <p:spPr>
          <a:xfrm>
            <a:off x="8046720" y="4114800"/>
            <a:ext cx="34134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400" b="1">
                <a:solidFill>
                  <a:srgbClr val="EC4899"/>
                </a:solidFill>
                <a:latin typeface="Segoe UI"/>
              </a:defRPr>
            </a:pPr>
            <a:r>
              <a:t>🛠️ Tools &amp; DevOps</a:t>
            </a:r>
          </a:p>
          <a:p>
            <a:pPr>
              <a:spcAft>
                <a:spcPts val="300"/>
              </a:spcAft>
              <a:defRPr sz="1100">
                <a:solidFill>
                  <a:srgbClr val="E2E8F0"/>
                </a:solidFill>
                <a:latin typeface="Segoe UI"/>
              </a:defRPr>
            </a:pPr>
            <a:r>
              <a:t>•  Eclipse IDE 2026 &amp; VS Code</a:t>
            </a:r>
          </a:p>
          <a:p>
            <a:pPr>
              <a:spcAft>
                <a:spcPts val="300"/>
              </a:spcAft>
              <a:defRPr sz="1100">
                <a:solidFill>
                  <a:srgbClr val="E2E8F0"/>
                </a:solidFill>
                <a:latin typeface="Segoe UI"/>
              </a:defRPr>
            </a:pPr>
            <a:r>
              <a:t>•  MySQL Workbench &amp; Postman</a:t>
            </a:r>
          </a:p>
          <a:p>
            <a:pPr>
              <a:spcAft>
                <a:spcPts val="300"/>
              </a:spcAft>
              <a:defRPr sz="1100">
                <a:solidFill>
                  <a:srgbClr val="E2E8F0"/>
                </a:solidFill>
                <a:latin typeface="Segoe UI"/>
              </a:defRPr>
            </a:pPr>
            <a:r>
              <a:t>•  Git &amp; GitHub Pages Deployment</a:t>
            </a:r>
          </a:p>
          <a:p>
            <a:pPr>
              <a:spcAft>
                <a:spcPts val="300"/>
              </a:spcAft>
              <a:defRPr sz="1100">
                <a:solidFill>
                  <a:srgbClr val="E2E8F0"/>
                </a:solidFill>
                <a:latin typeface="Segoe UI"/>
              </a:defRPr>
            </a:pPr>
            <a:r>
              <a:t>•  Render / Cloud MySQL Hosting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03 OF 09 • PROJECT STRUCTURE</a:t>
            </a:r>
          </a:p>
          <a:p>
            <a:pPr>
              <a:defRPr sz="2200" b="1">
                <a:solidFill>
                  <a:srgbClr val="F8FAFC"/>
                </a:solidFill>
                <a:latin typeface="Segoe UI"/>
              </a:defRPr>
            </a:pPr>
            <a:r>
              <a:t>Eclipse Dynamic Web App &amp; MVC Package Organisation</a:t>
            </a:r>
          </a:p>
          <a:p>
            <a:pPr>
              <a:defRPr sz="1200">
                <a:solidFill>
                  <a:srgbClr val="94A3B8"/>
                </a:solidFill>
                <a:latin typeface="Segoe UI"/>
              </a:defRPr>
            </a:pPr>
            <a:r>
              <a:t>Strict separation of Model, View, Controller, DAO, and Service layers</a:t>
            </a:r>
          </a:p>
        </p:txBody>
      </p:sp>
      <p:pic>
        <p:nvPicPr>
          <p:cNvPr id="4" name="Picture 3" descr="3_Project_Structur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04 OF 09 • ER DIAGRAM</a:t>
            </a:r>
          </a:p>
          <a:p>
            <a:pPr>
              <a:defRPr sz="2200" b="1">
                <a:solidFill>
                  <a:srgbClr val="F8FAFC"/>
                </a:solidFill>
                <a:latin typeface="Segoe UI"/>
              </a:defRPr>
            </a:pPr>
            <a:r>
              <a:t>Relational Database Schema (fudwala)</a:t>
            </a:r>
          </a:p>
          <a:p>
            <a:pPr>
              <a:defRPr sz="1200">
                <a:solidFill>
                  <a:srgbClr val="94A3B8"/>
                </a:solidFill>
                <a:latin typeface="Segoe UI"/>
              </a:defRPr>
            </a:pPr>
            <a:r>
              <a:t>3NF normalized schema with foreign key integrity and audit logs</a:t>
            </a:r>
          </a:p>
        </p:txBody>
      </p:sp>
      <p:pic>
        <p:nvPicPr>
          <p:cNvPr id="4" name="Picture 3" descr="4_ER_Diagram.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5.1</a:t>
            </a:r>
          </a:p>
          <a:p>
            <a:pPr>
              <a:defRPr sz="2200" b="1">
                <a:solidFill>
                  <a:srgbClr val="F8FAFC"/>
                </a:solidFill>
                <a:latin typeface="Segoe UI"/>
              </a:defRPr>
            </a:pPr>
            <a:r>
              <a:t>Home &amp; Food Discovery Page</a:t>
            </a:r>
          </a:p>
          <a:p>
            <a:pPr>
              <a:defRPr sz="1200">
                <a:solidFill>
                  <a:srgbClr val="94A3B8"/>
                </a:solidFill>
                <a:latin typeface="Segoe UI"/>
              </a:defRPr>
            </a:pPr>
            <a:r>
              <a:t>Hyperlocal Bengaluru curation, 3D animated category cards, trending restaurants, and typo-tolerant search.</a:t>
            </a:r>
          </a:p>
        </p:txBody>
      </p:sp>
      <p:pic>
        <p:nvPicPr>
          <p:cNvPr id="4" name="Picture 3" descr="5.1_Home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5.2</a:t>
            </a:r>
          </a:p>
          <a:p>
            <a:pPr>
              <a:defRPr sz="2200" b="1">
                <a:solidFill>
                  <a:srgbClr val="F8FAFC"/>
                </a:solidFill>
                <a:latin typeface="Segoe UI"/>
              </a:defRPr>
            </a:pPr>
            <a:r>
              <a:t>User Registration Page</a:t>
            </a:r>
          </a:p>
          <a:p>
            <a:pPr>
              <a:defRPr sz="1200">
                <a:solidFill>
                  <a:srgbClr val="94A3B8"/>
                </a:solidFill>
                <a:latin typeface="Segoe UI"/>
              </a:defRPr>
            </a:pPr>
            <a:r>
              <a:t>Indian 10-digit mobile phone normalization, blur duplicate phone modal, and Argon2id hash storage.</a:t>
            </a:r>
          </a:p>
        </p:txBody>
      </p:sp>
      <p:pic>
        <p:nvPicPr>
          <p:cNvPr id="4" name="Picture 3" descr="5.2_Registration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5.3</a:t>
            </a:r>
          </a:p>
          <a:p>
            <a:pPr>
              <a:defRPr sz="2200" b="1">
                <a:solidFill>
                  <a:srgbClr val="F8FAFC"/>
                </a:solidFill>
                <a:latin typeface="Segoe UI"/>
              </a:defRPr>
            </a:pPr>
            <a:r>
              <a:t>User Login &amp; Security Shield</a:t>
            </a:r>
          </a:p>
          <a:p>
            <a:pPr>
              <a:defRPr sz="1200">
                <a:solidFill>
                  <a:srgbClr val="94A3B8"/>
                </a:solidFill>
                <a:latin typeface="Segoe UI"/>
              </a:defRPr>
            </a:pPr>
            <a:r>
              <a:t>Secure sign-in, 5-attempt automated account lockout protection, and self-service password recovery.</a:t>
            </a:r>
          </a:p>
        </p:txBody>
      </p:sp>
      <p:pic>
        <p:nvPicPr>
          <p:cNvPr id="4" name="Picture 3" descr="5.3_Login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5.4</a:t>
            </a:r>
          </a:p>
          <a:p>
            <a:pPr>
              <a:defRPr sz="2200" b="1">
                <a:solidFill>
                  <a:srgbClr val="F8FAFC"/>
                </a:solidFill>
                <a:latin typeface="Segoe UI"/>
              </a:defRPr>
            </a:pPr>
            <a:r>
              <a:t>Restaurant Discovery &amp; Filters</a:t>
            </a:r>
          </a:p>
          <a:p>
            <a:pPr>
              <a:defRPr sz="1200">
                <a:solidFill>
                  <a:srgbClr val="94A3B8"/>
                </a:solidFill>
                <a:latin typeface="Segoe UI"/>
              </a:defRPr>
            </a:pPr>
            <a:r>
              <a:t>Dynamic cuisine filters (Biryani, Dosa, Continental), rating badges, delivery time indicators, and price sorting.</a:t>
            </a:r>
          </a:p>
        </p:txBody>
      </p:sp>
      <p:pic>
        <p:nvPicPr>
          <p:cNvPr id="4" name="Picture 3" descr="5.4_Restaurants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5.5</a:t>
            </a:r>
          </a:p>
          <a:p>
            <a:pPr>
              <a:defRPr sz="2200" b="1">
                <a:solidFill>
                  <a:srgbClr val="F8FAFC"/>
                </a:solidFill>
                <a:latin typeface="Segoe UI"/>
              </a:defRPr>
            </a:pPr>
            <a:r>
              <a:t>Restaurant Menu &amp; Customization</a:t>
            </a:r>
          </a:p>
          <a:p>
            <a:pPr>
              <a:defRPr sz="1200">
                <a:solidFill>
                  <a:srgbClr val="94A3B8"/>
                </a:solidFill>
                <a:latin typeface="Segoe UI"/>
              </a:defRPr>
            </a:pPr>
            <a:r>
              <a:t>Live categorized menu items with veg/non-veg tags, quantity modifiers, and real-time floating cart sync.</a:t>
            </a:r>
          </a:p>
        </p:txBody>
      </p:sp>
      <p:pic>
        <p:nvPicPr>
          <p:cNvPr id="4" name="Picture 3" descr="5.5_Restaurant_Menu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5.6</a:t>
            </a:r>
          </a:p>
          <a:p>
            <a:pPr>
              <a:defRPr sz="2200" b="1">
                <a:solidFill>
                  <a:srgbClr val="F8FAFC"/>
                </a:solidFill>
                <a:latin typeface="Segoe UI"/>
              </a:defRPr>
            </a:pPr>
            <a:r>
              <a:t>Interactive Cart &amp; Coupons</a:t>
            </a:r>
          </a:p>
          <a:p>
            <a:pPr>
              <a:defRPr sz="1200">
                <a:solidFill>
                  <a:srgbClr val="94A3B8"/>
                </a:solidFill>
                <a:latin typeface="Segoe UI"/>
              </a:defRPr>
            </a:pPr>
            <a:r>
              <a:t>Dynamic bill computation, delivery charges, and server-validated promo codes (FOODWALA50, WELCOME).</a:t>
            </a:r>
          </a:p>
        </p:txBody>
      </p:sp>
      <p:pic>
        <p:nvPicPr>
          <p:cNvPr id="4" name="Picture 3" descr="5.6_Cart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5.7</a:t>
            </a:r>
          </a:p>
          <a:p>
            <a:pPr>
              <a:defRPr sz="2200" b="1">
                <a:solidFill>
                  <a:srgbClr val="F8FAFC"/>
                </a:solidFill>
                <a:latin typeface="Segoe UI"/>
              </a:defRPr>
            </a:pPr>
            <a:r>
              <a:t>Delivery Address &amp; Checkout</a:t>
            </a:r>
          </a:p>
          <a:p>
            <a:pPr>
              <a:defRPr sz="1200">
                <a:solidFill>
                  <a:srgbClr val="94A3B8"/>
                </a:solidFill>
                <a:latin typeface="Segoe UI"/>
              </a:defRPr>
            </a:pPr>
            <a:r>
              <a:t>Saved addresses selector, delivery instructions, Razorpay test sandbox modal, and Cash on Delivery option.</a:t>
            </a:r>
          </a:p>
        </p:txBody>
      </p:sp>
      <p:pic>
        <p:nvPicPr>
          <p:cNvPr id="4" name="Picture 3" descr="5.7_Checkout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5.8</a:t>
            </a:r>
          </a:p>
          <a:p>
            <a:pPr>
              <a:defRPr sz="2200" b="1">
                <a:solidFill>
                  <a:srgbClr val="F8FAFC"/>
                </a:solidFill>
                <a:latin typeface="Segoe UI"/>
              </a:defRPr>
            </a:pPr>
            <a:r>
              <a:t>Order Confirmation &amp; Token</a:t>
            </a:r>
          </a:p>
          <a:p>
            <a:pPr>
              <a:defRPr sz="1200">
                <a:solidFill>
                  <a:srgbClr val="94A3B8"/>
                </a:solidFill>
                <a:latin typeface="Segoe UI"/>
              </a:defRPr>
            </a:pPr>
            <a:r>
              <a:t>Atomic transaction summary, order token ID, delivery ETA, and automated Dual EmailJS dispatch.</a:t>
            </a:r>
          </a:p>
        </p:txBody>
      </p:sp>
      <p:pic>
        <p:nvPicPr>
          <p:cNvPr id="4" name="Picture 3" descr="5.8_Order_Confirmation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5.9</a:t>
            </a:r>
          </a:p>
          <a:p>
            <a:pPr>
              <a:defRPr sz="2200" b="1">
                <a:solidFill>
                  <a:srgbClr val="F8FAFC"/>
                </a:solidFill>
                <a:latin typeface="Segoe UI"/>
              </a:defRPr>
            </a:pPr>
            <a:r>
              <a:t>Real-Time Order Tracking</a:t>
            </a:r>
          </a:p>
          <a:p>
            <a:pPr>
              <a:defRPr sz="1200">
                <a:solidFill>
                  <a:srgbClr val="94A3B8"/>
                </a:solidFill>
                <a:latin typeface="Segoe UI"/>
              </a:defRPr>
            </a:pPr>
            <a:r>
              <a:t>5-stage progress timeline (Placed ➔ Confirmed ➔ Prepared ➔ Out for Delivery ➔ Delivered) and driver map.</a:t>
            </a:r>
          </a:p>
        </p:txBody>
      </p:sp>
      <p:pic>
        <p:nvPicPr>
          <p:cNvPr id="4" name="Picture 3" descr="5.9_Order_Tracking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5.10</a:t>
            </a:r>
          </a:p>
          <a:p>
            <a:pPr>
              <a:defRPr sz="2200" b="1">
                <a:solidFill>
                  <a:srgbClr val="F8FAFC"/>
                </a:solidFill>
                <a:latin typeface="Segoe UI"/>
              </a:defRPr>
            </a:pPr>
            <a:r>
              <a:t>Order History &amp; Invoices</a:t>
            </a:r>
          </a:p>
          <a:p>
            <a:pPr>
              <a:defRPr sz="1200">
                <a:solidFill>
                  <a:srgbClr val="94A3B8"/>
                </a:solidFill>
                <a:latin typeface="Segoe UI"/>
              </a:defRPr>
            </a:pPr>
            <a:r>
              <a:t>Past orders dashboard, re-order shortcuts, status audits, and one-click jsPDF downloadable tax invoice.</a:t>
            </a:r>
          </a:p>
        </p:txBody>
      </p:sp>
      <p:pic>
        <p:nvPicPr>
          <p:cNvPr id="4" name="Picture 3" descr="5.10_Orders_History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5.11</a:t>
            </a:r>
          </a:p>
          <a:p>
            <a:pPr>
              <a:defRPr sz="2200" b="1">
                <a:solidFill>
                  <a:srgbClr val="F8FAFC"/>
                </a:solidFill>
                <a:latin typeface="Segoe UI"/>
              </a:defRPr>
            </a:pPr>
            <a:r>
              <a:t>User Profile &amp; Security Hub</a:t>
            </a:r>
          </a:p>
          <a:p>
            <a:pPr>
              <a:defRPr sz="1200">
                <a:solidFill>
                  <a:srgbClr val="94A3B8"/>
                </a:solidFill>
                <a:latin typeface="Segoe UI"/>
              </a:defRPr>
            </a:pPr>
            <a:r>
              <a:t>Saved addresses manager, password update with validation rules, notification preferences, and session logs.</a:t>
            </a:r>
          </a:p>
        </p:txBody>
      </p:sp>
      <p:pic>
        <p:nvPicPr>
          <p:cNvPr id="4" name="Picture 3" descr="5.11_User_Profile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5.12</a:t>
            </a:r>
          </a:p>
          <a:p>
            <a:pPr>
              <a:defRPr sz="2200" b="1">
                <a:solidFill>
                  <a:srgbClr val="F8FAFC"/>
                </a:solidFill>
                <a:latin typeface="Segoe UI"/>
              </a:defRPr>
            </a:pPr>
            <a:r>
              <a:t>Restaurant Partner Portal</a:t>
            </a:r>
          </a:p>
          <a:p>
            <a:pPr>
              <a:defRPr sz="1200">
                <a:solidFill>
                  <a:srgbClr val="94A3B8"/>
                </a:solidFill>
                <a:latin typeface="Segoe UI"/>
              </a:defRPr>
            </a:pPr>
            <a:r>
              <a:t>Live incoming orders pipeline, order state dispatch controls (Accept/Dispatch), and menu inventory toggle.</a:t>
            </a:r>
          </a:p>
        </p:txBody>
      </p:sp>
      <p:pic>
        <p:nvPicPr>
          <p:cNvPr id="4" name="Picture 3" descr="5.12_Restaurant_Dashboard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05 • PAGE SCREENSHOT 5.13</a:t>
            </a:r>
          </a:p>
          <a:p>
            <a:pPr>
              <a:defRPr sz="2200" b="1">
                <a:solidFill>
                  <a:srgbClr val="F8FAFC"/>
                </a:solidFill>
                <a:latin typeface="Segoe UI"/>
              </a:defRPr>
            </a:pPr>
            <a:r>
              <a:t>Operational Admin Portal</a:t>
            </a:r>
          </a:p>
          <a:p>
            <a:pPr>
              <a:defRPr sz="1200">
                <a:solidFill>
                  <a:srgbClr val="94A3B8"/>
                </a:solidFill>
                <a:latin typeface="Segoe UI"/>
              </a:defRPr>
            </a:pPr>
            <a:r>
              <a:t>Real-time business KPIs (Revenue, Total Orders, Active Users), user lockout management, and security audit log.</a:t>
            </a:r>
          </a:p>
        </p:txBody>
      </p:sp>
      <p:pic>
        <p:nvPicPr>
          <p:cNvPr id="4" name="Picture 3" descr="5.11_User_Profile_Page.png"/>
          <p:cNvPicPr>
            <a:picLocks noChangeAspect="1"/>
          </p:cNvPicPr>
          <p:nvPr/>
        </p:nvPicPr>
        <p:blipFill>
          <a:blip r:embed="rId2"/>
          <a:stretch>
            <a:fillRect/>
          </a:stretch>
        </p:blipFill>
        <p:spPr>
          <a:xfrm>
            <a:off x="731520" y="1600200"/>
            <a:ext cx="10728655" cy="4663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06 OF 09 • NEW FEATURES YOU ADDED</a:t>
            </a:r>
          </a:p>
          <a:p>
            <a:pPr>
              <a:defRPr sz="2200" b="1">
                <a:solidFill>
                  <a:srgbClr val="F8FAFC"/>
                </a:solidFill>
                <a:latin typeface="Segoe UI"/>
              </a:defRPr>
            </a:pPr>
            <a:r>
              <a:t>Advanced Capabilities Beyond Base Requirements</a:t>
            </a:r>
          </a:p>
          <a:p>
            <a:pPr>
              <a:defRPr sz="1200">
                <a:solidFill>
                  <a:srgbClr val="94A3B8"/>
                </a:solidFill>
                <a:latin typeface="Segoe UI"/>
              </a:defRPr>
            </a:pPr>
            <a:r>
              <a:t>Unique engineering additions implemented in FoodWala</a:t>
            </a:r>
          </a:p>
        </p:txBody>
      </p:sp>
      <p:sp>
        <p:nvSpPr>
          <p:cNvPr id="4" name="Rounded Rectangle 3"/>
          <p:cNvSpPr/>
          <p:nvPr/>
        </p:nvSpPr>
        <p:spPr>
          <a:xfrm>
            <a:off x="731520" y="164592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FF5200"/>
                </a:solidFill>
                <a:latin typeface="Segoe UI"/>
              </a:defRPr>
            </a:pPr>
            <a:r>
              <a:t>🌐 Hyperlocal Geolocation Engine</a:t>
            </a:r>
          </a:p>
          <a:p>
            <a:pPr>
              <a:defRPr sz="1200">
                <a:solidFill>
                  <a:srgbClr val="94A3B8"/>
                </a:solidFill>
                <a:latin typeface="Segoe UI"/>
              </a:defRPr>
            </a:pPr>
            <a:r>
              <a:t>Integrated Leaflet.js interactive maps calculating aerial distances between user coordinates and restaurants via the Haversine formula, driving dynamic delivery fees.</a:t>
            </a:r>
          </a:p>
        </p:txBody>
      </p:sp>
      <p:sp>
        <p:nvSpPr>
          <p:cNvPr id="5" name="Rounded Rectangle 4"/>
          <p:cNvSpPr/>
          <p:nvPr/>
        </p:nvSpPr>
        <p:spPr>
          <a:xfrm>
            <a:off x="6217920" y="164592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38BDF8"/>
                </a:solidFill>
                <a:latin typeface="Segoe UI"/>
              </a:defRPr>
            </a:pPr>
            <a:r>
              <a:t>🔍 Typo-Tolerant Smart Search</a:t>
            </a:r>
          </a:p>
          <a:p>
            <a:pPr>
              <a:defRPr sz="1200">
                <a:solidFill>
                  <a:srgbClr val="94A3B8"/>
                </a:solidFill>
                <a:latin typeface="Segoe UI"/>
              </a:defRPr>
            </a:pPr>
            <a:r>
              <a:t>Custom Levenshtein distance algorithm matching dish and restaurant names even with typos (e.g., 'bryani' ➔ 'Biryani', 'vidyarti' ➔ 'Vidyarthi Bhavan').</a:t>
            </a:r>
          </a:p>
        </p:txBody>
      </p:sp>
      <p:sp>
        <p:nvSpPr>
          <p:cNvPr id="6" name="Rounded Rectangle 5"/>
          <p:cNvSpPr/>
          <p:nvPr/>
        </p:nvSpPr>
        <p:spPr>
          <a:xfrm>
            <a:off x="731520" y="411480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10B981"/>
                </a:solidFill>
                <a:latin typeface="Segoe UI"/>
              </a:defRPr>
            </a:pPr>
            <a:r>
              <a:t>🛡️ OWASP Enterprise Security</a:t>
            </a:r>
          </a:p>
          <a:p>
            <a:pPr>
              <a:defRPr sz="1200">
                <a:solidFill>
                  <a:srgbClr val="94A3B8"/>
                </a:solidFill>
                <a:latin typeface="Segoe UI"/>
              </a:defRPr>
            </a:pPr>
            <a:r>
              <a:t>State-of-the-art Argon2id password hashing, real-time client/server duplicate phone detection with HTTP 409 modals, and automated 5-attempt account lockout.</a:t>
            </a:r>
          </a:p>
        </p:txBody>
      </p:sp>
      <p:sp>
        <p:nvSpPr>
          <p:cNvPr id="7" name="Rounded Rectangle 6"/>
          <p:cNvSpPr/>
          <p:nvPr/>
        </p:nvSpPr>
        <p:spPr>
          <a:xfrm>
            <a:off x="6217920" y="411480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A855F7"/>
                </a:solidFill>
                <a:latin typeface="Segoe UI"/>
              </a:defRPr>
            </a:pPr>
            <a:r>
              <a:t>💳 Razorpay &amp; Dual EmailJS Receipts</a:t>
            </a:r>
          </a:p>
          <a:p>
            <a:pPr>
              <a:defRPr sz="1200">
                <a:solidFill>
                  <a:srgbClr val="94A3B8"/>
                </a:solidFill>
                <a:latin typeface="Segoe UI"/>
              </a:defRPr>
            </a:pPr>
            <a:r>
              <a:t>Complete Razorpay sandbox checkout with SHA-256 HMAC verification, dual EmailJS receipt dispatch (customer + admin), and instant jsPDF tax invoice generation.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07 OF 09 • IMPORTANT ALGORITHMS</a:t>
            </a:r>
          </a:p>
          <a:p>
            <a:pPr>
              <a:defRPr sz="2200" b="1">
                <a:solidFill>
                  <a:srgbClr val="F8FAFC"/>
                </a:solidFill>
                <a:latin typeface="Segoe UI"/>
              </a:defRPr>
            </a:pPr>
            <a:r>
              <a:t>Tricky &amp; Clever Logic Implemented in Java</a:t>
            </a:r>
          </a:p>
          <a:p>
            <a:pPr>
              <a:defRPr sz="1200">
                <a:solidFill>
                  <a:srgbClr val="94A3B8"/>
                </a:solidFill>
                <a:latin typeface="Segoe UI"/>
              </a:defRPr>
            </a:pPr>
            <a:r>
              <a:t>Haversine Distance, Levenshtein Fuzzy Matching &amp; ACID Transaction Management</a:t>
            </a:r>
          </a:p>
        </p:txBody>
      </p:sp>
      <p:sp>
        <p:nvSpPr>
          <p:cNvPr id="4" name="Rounded Rectangle 3"/>
          <p:cNvSpPr/>
          <p:nvPr/>
        </p:nvSpPr>
        <p:spPr>
          <a:xfrm>
            <a:off x="731520" y="164592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400"/>
              </a:spcAft>
              <a:defRPr sz="1200" b="1">
                <a:solidFill>
                  <a:srgbClr val="F59E0B"/>
                </a:solidFill>
                <a:latin typeface="Segoe UI"/>
              </a:defRPr>
            </a:pPr>
            <a:r>
              <a:t>1. Haversine Geodetic Distance (LocationUtil.java)</a:t>
            </a:r>
          </a:p>
          <a:p>
            <a:pPr>
              <a:defRPr sz="950">
                <a:solidFill>
                  <a:srgbClr val="E2E8F0"/>
                </a:solidFill>
                <a:latin typeface="Consolas"/>
              </a:defRPr>
            </a:pPr>
            <a:r>
              <a:t>// Calculates spherical distance between user &amp; restaurant</a:t>
            </a:r>
            <a:br/>
            <a:r>
              <a:t>double dLat = Math.toRadians(lat2 - lat1);</a:t>
            </a:r>
            <a:br/>
            <a:r>
              <a:t>double dLon = Math.toRadians(lon2 - lon1);</a:t>
            </a:r>
            <a:br/>
            <a:r>
              <a:t>double a = Math.sin(dLat/2) * Math.sin(dLat/2) +</a:t>
            </a:r>
            <a:br/>
            <a:r>
              <a:t>           Math.cos(Math.toRadians(lat1)) * Math.cos(Math.toRadians(lat2)) *</a:t>
            </a:r>
            <a:br/>
            <a:r>
              <a:t>           Math.sin(dLon/2) * Math.sin(dLon/2);</a:t>
            </a:r>
            <a:br/>
            <a:r>
              <a:t>double c = 2 * Math.atan2(Math.sqrt(a), Math.sqrt(1 - a));</a:t>
            </a:r>
            <a:br/>
            <a:r>
              <a:t>return EARTH_RADIUS_KM * c; // In Kilometers</a:t>
            </a:r>
          </a:p>
        </p:txBody>
      </p:sp>
      <p:sp>
        <p:nvSpPr>
          <p:cNvPr id="5" name="Rounded Rectangle 4"/>
          <p:cNvSpPr/>
          <p:nvPr/>
        </p:nvSpPr>
        <p:spPr>
          <a:xfrm>
            <a:off x="6217920" y="164592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400"/>
              </a:spcAft>
              <a:defRPr sz="1200" b="1">
                <a:solidFill>
                  <a:srgbClr val="F59E0B"/>
                </a:solidFill>
                <a:latin typeface="Segoe UI"/>
              </a:defRPr>
            </a:pPr>
            <a:r>
              <a:t>2. Levenshtein Dynamic Programming (FuzzySearchUtil.java)</a:t>
            </a:r>
          </a:p>
          <a:p>
            <a:pPr>
              <a:defRPr sz="950">
                <a:solidFill>
                  <a:srgbClr val="E2E8F0"/>
                </a:solidFill>
                <a:latin typeface="Consolas"/>
              </a:defRPr>
            </a:pPr>
            <a:r>
              <a:t>// Computes edit distance matrix for typo-tolerant search</a:t>
            </a:r>
            <a:br/>
            <a:r>
              <a:t>int[][] dp = new int[s1.length() + 1][s2.length() + 1];</a:t>
            </a:r>
            <a:br/>
            <a:r>
              <a:t>for (int i = 0; i &lt;= s1.length(); i++) dp[i][0] = i;</a:t>
            </a:r>
            <a:br/>
            <a:r>
              <a:t>for (int j = 0; j &lt;= s2.length(); j++) dp[0][j] = j;</a:t>
            </a:r>
            <a:br/>
            <a:r>
              <a:t>for (int i = 1; i &lt;= s1.length(); i++) {</a:t>
            </a:r>
            <a:br/>
            <a:r>
              <a:t>    for (int j = 1; j &lt;= s2.length(); j++) {</a:t>
            </a:r>
            <a:br/>
            <a:r>
              <a:t>        int cost = (s1.charAt(i-1) == s2.charAt(j-1)) ? 0 : 1;</a:t>
            </a:r>
            <a:br/>
            <a:r>
              <a:t>        dp[i][j] = min(dp[i-1][j]+1, dp[i][j-1]+1, dp[i-1][j-1]+cost);</a:t>
            </a:r>
            <a:br/>
            <a:r>
              <a:t>    }</a:t>
            </a:r>
            <a:br/>
            <a:r>
              <a:t>}</a:t>
            </a:r>
          </a:p>
        </p:txBody>
      </p:sp>
      <p:sp>
        <p:nvSpPr>
          <p:cNvPr id="6" name="Rounded Rectangle 5"/>
          <p:cNvSpPr/>
          <p:nvPr/>
        </p:nvSpPr>
        <p:spPr>
          <a:xfrm>
            <a:off x="731520" y="4114800"/>
            <a:ext cx="107286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400"/>
              </a:spcAft>
              <a:defRPr sz="1200" b="1">
                <a:solidFill>
                  <a:srgbClr val="F59E0B"/>
                </a:solidFill>
                <a:latin typeface="Segoe UI"/>
              </a:defRPr>
            </a:pPr>
            <a:r>
              <a:t>3. ACID Transaction Isolation with Rollback (OrderService.java)</a:t>
            </a:r>
          </a:p>
          <a:p>
            <a:pPr>
              <a:defRPr sz="950">
                <a:solidFill>
                  <a:srgbClr val="E2E8F0"/>
                </a:solidFill>
                <a:latin typeface="Consolas"/>
              </a:defRPr>
            </a:pPr>
            <a:r>
              <a:t>// Atomic multi-table execution preventing orphaned records</a:t>
            </a:r>
            <a:br/>
            <a:r>
              <a:t>con.setAutoCommit(false);</a:t>
            </a:r>
            <a:br/>
            <a:r>
              <a:t>try {</a:t>
            </a:r>
            <a:br/>
            <a:r>
              <a:t>    int orderId = orderDAO.createOrder(order, con);</a:t>
            </a:r>
            <a:br/>
            <a:r>
              <a:t>    orderItemDAO.insertItems(orderId, cartItems, con);</a:t>
            </a:r>
            <a:br/>
            <a:r>
              <a:t>    paymentDAO.recordPayment(orderId, payment, con);</a:t>
            </a:r>
            <a:br/>
            <a:r>
              <a:t>    cartDAO.clearUserCart(userId, con);</a:t>
            </a:r>
            <a:br/>
            <a:r>
              <a:t>    con.commit(); // Atomic commit across all 4 tables</a:t>
            </a:r>
            <a:br/>
            <a:r>
              <a:t>} catch (Exception e) {</a:t>
            </a:r>
            <a:br/>
            <a:r>
              <a:t>    con.rollback(); // Complete rollback on any failure</a:t>
            </a:r>
            <a:br/>
            <a:r>
              <a:t>    throw new OrderProcessingException("Checkout rolled back", e);</a:t>
            </a:r>
            <a:b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08 OF 09 • MAJOR CHALLENGE FACED</a:t>
            </a:r>
          </a:p>
          <a:p>
            <a:pPr>
              <a:defRPr sz="2200" b="1">
                <a:solidFill>
                  <a:srgbClr val="F8FAFC"/>
                </a:solidFill>
                <a:latin typeface="Segoe UI"/>
              </a:defRPr>
            </a:pPr>
            <a:r>
              <a:t>Race Conditions &amp; Multi-Table Transaction Inconsistency</a:t>
            </a:r>
          </a:p>
          <a:p>
            <a:pPr>
              <a:defRPr sz="1200">
                <a:solidFill>
                  <a:srgbClr val="94A3B8"/>
                </a:solidFill>
                <a:latin typeface="Segoe UI"/>
              </a:defRPr>
            </a:pPr>
            <a:r>
              <a:t>The biggest problem encountered and how we architecturally resolved it</a:t>
            </a:r>
          </a:p>
        </p:txBody>
      </p:sp>
      <p:sp>
        <p:nvSpPr>
          <p:cNvPr id="4" name="Rounded Rectangle 3"/>
          <p:cNvSpPr/>
          <p:nvPr/>
        </p:nvSpPr>
        <p:spPr>
          <a:xfrm>
            <a:off x="731520" y="1645920"/>
            <a:ext cx="5242255" cy="4572000"/>
          </a:xfrm>
          <a:prstGeom prst="roundRect">
            <a:avLst/>
          </a:prstGeom>
          <a:solidFill>
            <a:srgbClr val="161B2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600" b="1">
                <a:solidFill>
                  <a:srgbClr val="F87171"/>
                </a:solidFill>
                <a:latin typeface="Segoe UI"/>
              </a:defRPr>
            </a:pPr>
            <a:r>
              <a:t>🛑 THE PROBLEM</a:t>
            </a:r>
          </a:p>
          <a:p>
            <a:pPr>
              <a:spcAft>
                <a:spcPts val="1200"/>
              </a:spcAft>
              <a:defRPr sz="1300">
                <a:solidFill>
                  <a:srgbClr val="94A3B8"/>
                </a:solidFill>
                <a:latin typeface="Segoe UI"/>
              </a:defRPr>
            </a:pPr>
            <a:r>
              <a:t>• Checkout Double-Clicks: Rapid user double-clicks or slow network connections caused duplicate order insertions and repeated payment authorizations.</a:t>
            </a:r>
          </a:p>
          <a:p>
            <a:pPr>
              <a:spcAft>
                <a:spcPts val="1200"/>
              </a:spcAft>
              <a:defRPr sz="1300">
                <a:solidFill>
                  <a:srgbClr val="94A3B8"/>
                </a:solidFill>
                <a:latin typeface="Segoe UI"/>
              </a:defRPr>
            </a:pPr>
            <a:r>
              <a:t>• Orphaned Records: If network disconnection happened while inserting cart items or recording payment, the order row remained stranded without items.</a:t>
            </a:r>
          </a:p>
          <a:p>
            <a:pPr>
              <a:spcAft>
                <a:spcPts val="1200"/>
              </a:spcAft>
              <a:defRPr sz="1300">
                <a:solidFill>
                  <a:srgbClr val="94A3B8"/>
                </a:solidFill>
                <a:latin typeface="Segoe UI"/>
              </a:defRPr>
            </a:pPr>
            <a:r>
              <a:t>• Coupon Concurrency Exploits: Users were able to apply single-use promo codes simultaneously on multiple tabs before the usage flag was committed.</a:t>
            </a:r>
          </a:p>
        </p:txBody>
      </p:sp>
      <p:sp>
        <p:nvSpPr>
          <p:cNvPr id="5" name="Rounded Rectangle 4"/>
          <p:cNvSpPr/>
          <p:nvPr/>
        </p:nvSpPr>
        <p:spPr>
          <a:xfrm>
            <a:off x="6217920" y="1645920"/>
            <a:ext cx="5242255" cy="4572000"/>
          </a:xfrm>
          <a:prstGeom prst="roundRect">
            <a:avLst/>
          </a:prstGeom>
          <a:solidFill>
            <a:srgbClr val="161B22"/>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600" b="1">
                <a:solidFill>
                  <a:srgbClr val="10B981"/>
                </a:solidFill>
                <a:latin typeface="Segoe UI"/>
              </a:defRPr>
            </a:pPr>
            <a:r>
              <a:t>✅ THE ARCHITECTURAL SOLUTION</a:t>
            </a:r>
          </a:p>
          <a:p>
            <a:pPr>
              <a:spcAft>
                <a:spcPts val="1200"/>
              </a:spcAft>
              <a:defRPr sz="1300">
                <a:solidFill>
                  <a:srgbClr val="F8FAFC"/>
                </a:solidFill>
                <a:latin typeface="Segoe UI"/>
              </a:defRPr>
            </a:pPr>
            <a:r>
              <a:t>• Atomic ACID Session: Wrapped orders, order_item, payment, and cart_clear inside a single managed connection with con.setAutoCommit(false) and con.rollback().</a:t>
            </a:r>
          </a:p>
          <a:p>
            <a:pPr>
              <a:spcAft>
                <a:spcPts val="1200"/>
              </a:spcAft>
              <a:defRPr sz="1300">
                <a:solidFill>
                  <a:srgbClr val="F8FAFC"/>
                </a:solidFill>
                <a:latin typeface="Segoe UI"/>
              </a:defRPr>
            </a:pPr>
            <a:r>
              <a:t>• Client-Side UI Debounce &amp; Idempotency Key: Disabled checkout buttons immediately on click and passed a unique Razorpay transaction token to enforce database uniqueness.</a:t>
            </a:r>
          </a:p>
          <a:p>
            <a:pPr>
              <a:spcAft>
                <a:spcPts val="1200"/>
              </a:spcAft>
              <a:defRPr sz="1300">
                <a:solidFill>
                  <a:srgbClr val="F8FAFC"/>
                </a:solidFill>
                <a:latin typeface="Segoe UI"/>
              </a:defRPr>
            </a:pPr>
            <a:r>
              <a:t>• Row-Level Coupon Locking: Queried and updated coupon redemption records inside the transactional boundary before final commit.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FF5200"/>
                </a:solidFill>
                <a:latin typeface="Segoe UI"/>
              </a:defRPr>
            </a:pPr>
            <a:r>
              <a:t>SECTION 09 OF 09 • WHAT YOU'LL ADD NEXT</a:t>
            </a:r>
          </a:p>
          <a:p>
            <a:pPr>
              <a:defRPr sz="2200" b="1">
                <a:solidFill>
                  <a:srgbClr val="F8FAFC"/>
                </a:solidFill>
                <a:latin typeface="Segoe UI"/>
              </a:defRPr>
            </a:pPr>
            <a:r>
              <a:t>Future Engineering Roadmap</a:t>
            </a:r>
          </a:p>
          <a:p>
            <a:pPr>
              <a:defRPr sz="1200">
                <a:solidFill>
                  <a:srgbClr val="94A3B8"/>
                </a:solidFill>
                <a:latin typeface="Segoe UI"/>
              </a:defRPr>
            </a:pPr>
            <a:r>
              <a:t>Strategic enhancements planned for upcoming releases</a:t>
            </a:r>
          </a:p>
        </p:txBody>
      </p:sp>
      <p:sp>
        <p:nvSpPr>
          <p:cNvPr id="4" name="Rounded Rectangle 3"/>
          <p:cNvSpPr/>
          <p:nvPr/>
        </p:nvSpPr>
        <p:spPr>
          <a:xfrm>
            <a:off x="731520" y="164592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FF5200"/>
                </a:solidFill>
                <a:latin typeface="Segoe UI"/>
              </a:defRPr>
            </a:pPr>
            <a:r>
              <a:t>1. Real-Time WebSockets Driver Tracking</a:t>
            </a:r>
          </a:p>
          <a:p>
            <a:pPr>
              <a:defRPr sz="1200">
                <a:solidFill>
                  <a:srgbClr val="94A3B8"/>
                </a:solidFill>
                <a:latin typeface="Segoe UI"/>
              </a:defRPr>
            </a:pPr>
            <a:r>
              <a:t>Replace simulated ETA updates with bidirectional WebSockets and Redis pub/sub to stream driver GPS coordinates in real time onto Leaflet and Google Maps.</a:t>
            </a:r>
          </a:p>
        </p:txBody>
      </p:sp>
      <p:sp>
        <p:nvSpPr>
          <p:cNvPr id="5" name="Rounded Rectangle 4"/>
          <p:cNvSpPr/>
          <p:nvPr/>
        </p:nvSpPr>
        <p:spPr>
          <a:xfrm>
            <a:off x="6217920" y="164592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38BDF8"/>
                </a:solidFill>
                <a:latin typeface="Segoe UI"/>
              </a:defRPr>
            </a:pPr>
            <a:r>
              <a:t>2. AI-Driven Personalized Recommendations</a:t>
            </a:r>
          </a:p>
          <a:p>
            <a:pPr>
              <a:defRPr sz="1200">
                <a:solidFill>
                  <a:srgbClr val="94A3B8"/>
                </a:solidFill>
                <a:latin typeface="Segoe UI"/>
              </a:defRPr>
            </a:pPr>
            <a:r>
              <a:t>Implement collaborative filtering and matrix factorization to analyze user past order patterns, preferred cuisines, and time-of-day food cravings.</a:t>
            </a:r>
          </a:p>
        </p:txBody>
      </p:sp>
      <p:sp>
        <p:nvSpPr>
          <p:cNvPr id="6" name="Rounded Rectangle 5"/>
          <p:cNvSpPr/>
          <p:nvPr/>
        </p:nvSpPr>
        <p:spPr>
          <a:xfrm>
            <a:off x="731520" y="411480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10B981"/>
                </a:solidFill>
                <a:latin typeface="Segoe UI"/>
              </a:defRPr>
            </a:pPr>
            <a:r>
              <a:t>3. Native Cross-Platform Mobile Apps</a:t>
            </a:r>
          </a:p>
          <a:p>
            <a:pPr>
              <a:defRPr sz="1200">
                <a:solidFill>
                  <a:srgbClr val="94A3B8"/>
                </a:solidFill>
                <a:latin typeface="Segoe UI"/>
              </a:defRPr>
            </a:pPr>
            <a:r>
              <a:t>Build dedicated Android and iOS companion apps using React Native or Flutter, adding background push notifications and biometric FaceID authentication.</a:t>
            </a:r>
          </a:p>
        </p:txBody>
      </p:sp>
      <p:sp>
        <p:nvSpPr>
          <p:cNvPr id="7" name="Rounded Rectangle 6"/>
          <p:cNvSpPr/>
          <p:nvPr/>
        </p:nvSpPr>
        <p:spPr>
          <a:xfrm>
            <a:off x="6217920" y="4114800"/>
            <a:ext cx="5242255" cy="219456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600" b="1">
                <a:solidFill>
                  <a:srgbClr val="A855F7"/>
                </a:solidFill>
                <a:latin typeface="Segoe UI"/>
              </a:defRPr>
            </a:pPr>
            <a:r>
              <a:t>4. Automated Multi-City Geofencing</a:t>
            </a:r>
          </a:p>
          <a:p>
            <a:pPr>
              <a:defRPr sz="1200">
                <a:solidFill>
                  <a:srgbClr val="94A3B8"/>
                </a:solidFill>
                <a:latin typeface="Segoe UI"/>
              </a:defRPr>
            </a:pPr>
            <a:r>
              <a:t>Expand beyond Bengaluru by implementing automated multi-city geofencing, multi-currency support, and instant split payouts to restaurant partners via Razorpay Route.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