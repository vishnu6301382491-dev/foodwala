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8686800" y="-914400"/>
            <a:ext cx="4389120" cy="4389120"/>
          </a:xfrm>
          <a:prstGeom prst="ellipse">
            <a:avLst/>
          </a:prstGeom>
          <a:solidFill>
            <a:srgbClr val="EF4444">
              <a:alpha val="8000"/>
            </a:srgbClr>
          </a:solidFill>
          <a:ln w="12700">
            <a:solidFill>
              <a:srgbClr val="EF4444">
                <a:alpha val="0"/>
              </a:srgbClr>
            </a:solidFill>
            <a:prstDash val="solid"/>
          </a:ln>
        </p:spPr>
      </p:sp>
      <p:sp>
        <p:nvSpPr>
          <p:cNvPr id="3" name="Shape 1"/>
          <p:cNvSpPr/>
          <p:nvPr/>
        </p:nvSpPr>
        <p:spPr>
          <a:xfrm>
            <a:off x="914400" y="868680"/>
            <a:ext cx="2560320" cy="347472"/>
          </a:xfrm>
          <a:prstGeom prst="roundRect">
            <a:avLst>
              <a:gd name="adj" fmla="val 50000"/>
            </a:avLst>
          </a:prstGeom>
          <a:solidFill>
            <a:srgbClr val="EF4444">
              <a:alpha val="15000"/>
            </a:srgbClr>
          </a:solidFill>
          <a:ln w="12700">
            <a:solidFill>
              <a:srgbClr val="EF4444"/>
            </a:solidFill>
            <a:prstDash val="solid"/>
          </a:ln>
        </p:spPr>
      </p:sp>
      <p:sp>
        <p:nvSpPr>
          <p:cNvPr id="4" name="Text 2"/>
          <p:cNvSpPr/>
          <p:nvPr/>
        </p:nvSpPr>
        <p:spPr>
          <a:xfrm>
            <a:off x="914400" y="868680"/>
            <a:ext cx="2560320" cy="347472"/>
          </a:xfrm>
          <a:prstGeom prst="rect">
            <a:avLst/>
          </a:prstGeom>
          <a:noFill/>
          <a:ln/>
        </p:spPr>
        <p:txBody>
          <a:bodyPr wrap="square" rtlCol="0" anchor="ctr"/>
          <a:lstStyle/>
          <a:p>
            <a:pPr algn="ctr" indent="0" marL="0">
              <a:buNone/>
            </a:pPr>
            <a:r>
              <a:rPr lang="en-US" sz="1100" b="1" dirty="0">
                <a:solidFill>
                  <a:srgbClr val="EF4444"/>
                </a:solidFill>
              </a:rPr>
              <a:t>PROJECT DEMONSTRATION</a:t>
            </a:r>
            <a:endParaRPr lang="en-US" sz="1100" dirty="0"/>
          </a:p>
        </p:txBody>
      </p:sp>
      <p:sp>
        <p:nvSpPr>
          <p:cNvPr id="5" name="Text 3"/>
          <p:cNvSpPr/>
          <p:nvPr/>
        </p:nvSpPr>
        <p:spPr>
          <a:xfrm>
            <a:off x="914400" y="1325880"/>
            <a:ext cx="10360152" cy="868680"/>
          </a:xfrm>
          <a:prstGeom prst="rect">
            <a:avLst/>
          </a:prstGeom>
          <a:noFill/>
          <a:ln/>
        </p:spPr>
        <p:txBody>
          <a:bodyPr wrap="square" rtlCol="0" anchor="ctr"/>
          <a:lstStyle/>
          <a:p>
            <a:pPr indent="0" marL="0">
              <a:buNone/>
            </a:pPr>
            <a:r>
              <a:rPr lang="en-US" sz="2800" b="1" dirty="0">
                <a:solidFill>
                  <a:srgbClr val="F8FAFC"/>
                </a:solidFill>
              </a:rPr>
              <a:t>FoodWala — Bengaluru Food Discovery &amp; Delivery Platform</a:t>
            </a:r>
            <a:endParaRPr lang="en-US" sz="2800" dirty="0"/>
          </a:p>
        </p:txBody>
      </p:sp>
      <p:sp>
        <p:nvSpPr>
          <p:cNvPr id="6" name="Shape 4"/>
          <p:cNvSpPr/>
          <p:nvPr/>
        </p:nvSpPr>
        <p:spPr>
          <a:xfrm>
            <a:off x="914400" y="2331720"/>
            <a:ext cx="10360152" cy="804672"/>
          </a:xfrm>
          <a:prstGeom prst="roundRect">
            <a:avLst>
              <a:gd name="adj" fmla="val 11364"/>
            </a:avLst>
          </a:prstGeom>
          <a:solidFill>
            <a:srgbClr val="1E293B"/>
          </a:solidFill>
          <a:ln w="19050">
            <a:solidFill>
              <a:srgbClr val="EF4444"/>
            </a:solidFill>
            <a:prstDash val="solid"/>
          </a:ln>
        </p:spPr>
      </p:sp>
      <p:sp>
        <p:nvSpPr>
          <p:cNvPr id="7" name="Text 5"/>
          <p:cNvSpPr/>
          <p:nvPr/>
        </p:nvSpPr>
        <p:spPr>
          <a:xfrm>
            <a:off x="1097280" y="2423160"/>
            <a:ext cx="9994392" cy="621792"/>
          </a:xfrm>
          <a:prstGeom prst="rect">
            <a:avLst/>
          </a:prstGeom>
          <a:noFill/>
          <a:ln/>
        </p:spPr>
        <p:txBody>
          <a:bodyPr wrap="square" rtlCol="0" anchor="ctr"/>
          <a:lstStyle/>
          <a:p>
            <a:pPr indent="0" marL="0">
              <a:buNone/>
            </a:pPr>
            <a:r>
              <a:rPr lang="en-US" sz="1350" b="1" i="1" dirty="0">
                <a:solidFill>
                  <a:srgbClr val="F8FAFC"/>
                </a:solidFill>
              </a:rPr>
              <a:t>"FoodWala is a Java Full Stack food discovery and delivery platform built with Java Servlets, JSP, JDBC, and MySQL that allows users to discover restaurants, order food, make online payments, and track deliveries in real time."</a:t>
            </a:r>
            <a:endParaRPr lang="en-US" sz="1350" dirty="0"/>
          </a:p>
        </p:txBody>
      </p:sp>
      <p:sp>
        <p:nvSpPr>
          <p:cNvPr id="8" name="Shape 6"/>
          <p:cNvSpPr/>
          <p:nvPr/>
        </p:nvSpPr>
        <p:spPr>
          <a:xfrm>
            <a:off x="914400" y="3429000"/>
            <a:ext cx="2423160" cy="2514600"/>
          </a:xfrm>
          <a:prstGeom prst="roundRect">
            <a:avLst>
              <a:gd name="adj" fmla="val 3774"/>
            </a:avLst>
          </a:prstGeom>
          <a:solidFill>
            <a:srgbClr val="1E293B"/>
          </a:solidFill>
          <a:ln w="12700">
            <a:solidFill>
              <a:srgbClr val="334155"/>
            </a:solidFill>
            <a:prstDash val="solid"/>
          </a:ln>
        </p:spPr>
      </p:sp>
      <p:sp>
        <p:nvSpPr>
          <p:cNvPr id="9" name="Text 7"/>
          <p:cNvSpPr/>
          <p:nvPr/>
        </p:nvSpPr>
        <p:spPr>
          <a:xfrm>
            <a:off x="1097280" y="3566160"/>
            <a:ext cx="2057400" cy="41148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0" name="Text 8"/>
          <p:cNvSpPr/>
          <p:nvPr/>
        </p:nvSpPr>
        <p:spPr>
          <a:xfrm>
            <a:off x="1097280" y="4023360"/>
            <a:ext cx="2057400" cy="411480"/>
          </a:xfrm>
          <a:prstGeom prst="rect">
            <a:avLst/>
          </a:prstGeom>
          <a:noFill/>
          <a:ln/>
        </p:spPr>
        <p:txBody>
          <a:bodyPr wrap="square" rtlCol="0" anchor="ctr"/>
          <a:lstStyle/>
          <a:p>
            <a:pPr indent="0" marL="0">
              <a:buNone/>
            </a:pPr>
            <a:r>
              <a:rPr lang="en-US" sz="1300" b="1" dirty="0">
                <a:solidFill>
                  <a:srgbClr val="F8FAFC"/>
                </a:solidFill>
              </a:rPr>
              <a:t>Hyperlocal Discovery</a:t>
            </a:r>
            <a:endParaRPr lang="en-US" sz="1300" dirty="0"/>
          </a:p>
        </p:txBody>
      </p:sp>
      <p:sp>
        <p:nvSpPr>
          <p:cNvPr id="11" name="Text 9"/>
          <p:cNvSpPr/>
          <p:nvPr/>
        </p:nvSpPr>
        <p:spPr>
          <a:xfrm>
            <a:off x="1097280" y="4480560"/>
            <a:ext cx="2057400" cy="1325880"/>
          </a:xfrm>
          <a:prstGeom prst="rect">
            <a:avLst/>
          </a:prstGeom>
          <a:noFill/>
          <a:ln/>
        </p:spPr>
        <p:txBody>
          <a:bodyPr wrap="square" rtlCol="0" anchor="ctr"/>
          <a:lstStyle/>
          <a:p>
            <a:pPr indent="0" marL="0">
              <a:buNone/>
            </a:pPr>
            <a:r>
              <a:rPr lang="en-US" sz="1000" dirty="0">
                <a:solidFill>
                  <a:srgbClr val="94A3B8"/>
                </a:solidFill>
              </a:rPr>
              <a:t>Smart search with typo tolerance (Jaro-Winkler), dynamic category filters, and curated Bengaluru culinary showcases.</a:t>
            </a:r>
            <a:endParaRPr lang="en-US" sz="1000" dirty="0"/>
          </a:p>
        </p:txBody>
      </p:sp>
      <p:sp>
        <p:nvSpPr>
          <p:cNvPr id="12" name="Shape 10"/>
          <p:cNvSpPr/>
          <p:nvPr/>
        </p:nvSpPr>
        <p:spPr>
          <a:xfrm>
            <a:off x="3557016" y="3429000"/>
            <a:ext cx="2423160" cy="2514600"/>
          </a:xfrm>
          <a:prstGeom prst="roundRect">
            <a:avLst>
              <a:gd name="adj" fmla="val 3774"/>
            </a:avLst>
          </a:prstGeom>
          <a:solidFill>
            <a:srgbClr val="1E293B"/>
          </a:solidFill>
          <a:ln w="12700">
            <a:solidFill>
              <a:srgbClr val="334155"/>
            </a:solidFill>
            <a:prstDash val="solid"/>
          </a:ln>
        </p:spPr>
      </p:sp>
      <p:sp>
        <p:nvSpPr>
          <p:cNvPr id="13" name="Text 11"/>
          <p:cNvSpPr/>
          <p:nvPr/>
        </p:nvSpPr>
        <p:spPr>
          <a:xfrm>
            <a:off x="3739896" y="3566160"/>
            <a:ext cx="2057400" cy="41148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4" name="Text 12"/>
          <p:cNvSpPr/>
          <p:nvPr/>
        </p:nvSpPr>
        <p:spPr>
          <a:xfrm>
            <a:off x="3739896" y="4023360"/>
            <a:ext cx="2057400" cy="411480"/>
          </a:xfrm>
          <a:prstGeom prst="rect">
            <a:avLst/>
          </a:prstGeom>
          <a:noFill/>
          <a:ln/>
        </p:spPr>
        <p:txBody>
          <a:bodyPr wrap="square" rtlCol="0" anchor="ctr"/>
          <a:lstStyle/>
          <a:p>
            <a:pPr indent="0" marL="0">
              <a:buNone/>
            </a:pPr>
            <a:r>
              <a:rPr lang="en-US" sz="1300" b="1" dirty="0">
                <a:solidFill>
                  <a:srgbClr val="F8FAFC"/>
                </a:solidFill>
              </a:rPr>
              <a:t>ACID Order Pipeline</a:t>
            </a:r>
            <a:endParaRPr lang="en-US" sz="1300" dirty="0"/>
          </a:p>
        </p:txBody>
      </p:sp>
      <p:sp>
        <p:nvSpPr>
          <p:cNvPr id="15" name="Text 13"/>
          <p:cNvSpPr/>
          <p:nvPr/>
        </p:nvSpPr>
        <p:spPr>
          <a:xfrm>
            <a:off x="3739896" y="4480560"/>
            <a:ext cx="2057400" cy="1325880"/>
          </a:xfrm>
          <a:prstGeom prst="rect">
            <a:avLst/>
          </a:prstGeom>
          <a:noFill/>
          <a:ln/>
        </p:spPr>
        <p:txBody>
          <a:bodyPr wrap="square" rtlCol="0" anchor="ctr"/>
          <a:lstStyle/>
          <a:p>
            <a:pPr indent="0" marL="0">
              <a:buNone/>
            </a:pPr>
            <a:r>
              <a:rPr lang="en-US" sz="1000" dirty="0">
                <a:solidFill>
                  <a:srgbClr val="94A3B8"/>
                </a:solidFill>
              </a:rPr>
              <a:t>Atomic multi-table MySQL transactions handling cart lifecycle, discounts, Razorpay payments, and live order dispatch.</a:t>
            </a:r>
            <a:endParaRPr lang="en-US" sz="1000" dirty="0"/>
          </a:p>
        </p:txBody>
      </p:sp>
      <p:sp>
        <p:nvSpPr>
          <p:cNvPr id="16" name="Shape 14"/>
          <p:cNvSpPr/>
          <p:nvPr/>
        </p:nvSpPr>
        <p:spPr>
          <a:xfrm>
            <a:off x="6199632" y="3429000"/>
            <a:ext cx="2423160" cy="2514600"/>
          </a:xfrm>
          <a:prstGeom prst="roundRect">
            <a:avLst>
              <a:gd name="adj" fmla="val 3774"/>
            </a:avLst>
          </a:prstGeom>
          <a:solidFill>
            <a:srgbClr val="1E293B"/>
          </a:solidFill>
          <a:ln w="12700">
            <a:solidFill>
              <a:srgbClr val="334155"/>
            </a:solidFill>
            <a:prstDash val="solid"/>
          </a:ln>
        </p:spPr>
      </p:sp>
      <p:sp>
        <p:nvSpPr>
          <p:cNvPr id="17" name="Text 15"/>
          <p:cNvSpPr/>
          <p:nvPr/>
        </p:nvSpPr>
        <p:spPr>
          <a:xfrm>
            <a:off x="6382512" y="3566160"/>
            <a:ext cx="2057400" cy="41148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8" name="Text 16"/>
          <p:cNvSpPr/>
          <p:nvPr/>
        </p:nvSpPr>
        <p:spPr>
          <a:xfrm>
            <a:off x="6382512" y="4023360"/>
            <a:ext cx="2057400" cy="411480"/>
          </a:xfrm>
          <a:prstGeom prst="rect">
            <a:avLst/>
          </a:prstGeom>
          <a:noFill/>
          <a:ln/>
        </p:spPr>
        <p:txBody>
          <a:bodyPr wrap="square" rtlCol="0" anchor="ctr"/>
          <a:lstStyle/>
          <a:p>
            <a:pPr indent="0" marL="0">
              <a:buNone/>
            </a:pPr>
            <a:r>
              <a:rPr lang="en-US" sz="1300" b="1" dirty="0">
                <a:solidFill>
                  <a:srgbClr val="F8FAFC"/>
                </a:solidFill>
              </a:rPr>
              <a:t>Multi-Role Security</a:t>
            </a:r>
            <a:endParaRPr lang="en-US" sz="1300" dirty="0"/>
          </a:p>
        </p:txBody>
      </p:sp>
      <p:sp>
        <p:nvSpPr>
          <p:cNvPr id="19" name="Text 17"/>
          <p:cNvSpPr/>
          <p:nvPr/>
        </p:nvSpPr>
        <p:spPr>
          <a:xfrm>
            <a:off x="6382512" y="4480560"/>
            <a:ext cx="2057400" cy="1325880"/>
          </a:xfrm>
          <a:prstGeom prst="rect">
            <a:avLst/>
          </a:prstGeom>
          <a:noFill/>
          <a:ln/>
        </p:spPr>
        <p:txBody>
          <a:bodyPr wrap="square" rtlCol="0" anchor="ctr"/>
          <a:lstStyle/>
          <a:p>
            <a:pPr indent="0" marL="0">
              <a:buNone/>
            </a:pPr>
            <a:r>
              <a:rPr lang="en-US" sz="1000" dirty="0">
                <a:solidFill>
                  <a:srgbClr val="94A3B8"/>
                </a:solidFill>
              </a:rPr>
              <a:t>Argon2id hashing, role-based access control isolating Super Admin, Store Managers, Delivery Riders, and Customers.</a:t>
            </a:r>
            <a:endParaRPr lang="en-US" sz="1000" dirty="0"/>
          </a:p>
        </p:txBody>
      </p:sp>
      <p:sp>
        <p:nvSpPr>
          <p:cNvPr id="20" name="Shape 18"/>
          <p:cNvSpPr/>
          <p:nvPr/>
        </p:nvSpPr>
        <p:spPr>
          <a:xfrm>
            <a:off x="8842248" y="3429000"/>
            <a:ext cx="2423160" cy="2514600"/>
          </a:xfrm>
          <a:prstGeom prst="roundRect">
            <a:avLst>
              <a:gd name="adj" fmla="val 3774"/>
            </a:avLst>
          </a:prstGeom>
          <a:solidFill>
            <a:srgbClr val="1E293B"/>
          </a:solidFill>
          <a:ln w="12700">
            <a:solidFill>
              <a:srgbClr val="334155"/>
            </a:solidFill>
            <a:prstDash val="solid"/>
          </a:ln>
        </p:spPr>
      </p:sp>
      <p:sp>
        <p:nvSpPr>
          <p:cNvPr id="21" name="Text 19"/>
          <p:cNvSpPr/>
          <p:nvPr/>
        </p:nvSpPr>
        <p:spPr>
          <a:xfrm>
            <a:off x="9025128" y="3566160"/>
            <a:ext cx="2057400" cy="41148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22" name="Text 20"/>
          <p:cNvSpPr/>
          <p:nvPr/>
        </p:nvSpPr>
        <p:spPr>
          <a:xfrm>
            <a:off x="9025128" y="4023360"/>
            <a:ext cx="2057400" cy="411480"/>
          </a:xfrm>
          <a:prstGeom prst="rect">
            <a:avLst/>
          </a:prstGeom>
          <a:noFill/>
          <a:ln/>
        </p:spPr>
        <p:txBody>
          <a:bodyPr wrap="square" rtlCol="0" anchor="ctr"/>
          <a:lstStyle/>
          <a:p>
            <a:pPr indent="0" marL="0">
              <a:buNone/>
            </a:pPr>
            <a:r>
              <a:rPr lang="en-US" sz="1300" b="1" dirty="0">
                <a:solidFill>
                  <a:srgbClr val="F8FAFC"/>
                </a:solidFill>
              </a:rPr>
              <a:t>WhatsApp 24/7 AI Desk</a:t>
            </a:r>
            <a:endParaRPr lang="en-US" sz="1300" dirty="0"/>
          </a:p>
        </p:txBody>
      </p:sp>
      <p:sp>
        <p:nvSpPr>
          <p:cNvPr id="23" name="Text 21"/>
          <p:cNvSpPr/>
          <p:nvPr/>
        </p:nvSpPr>
        <p:spPr>
          <a:xfrm>
            <a:off x="9025128" y="4480560"/>
            <a:ext cx="2057400" cy="1325880"/>
          </a:xfrm>
          <a:prstGeom prst="rect">
            <a:avLst/>
          </a:prstGeom>
          <a:noFill/>
          <a:ln/>
        </p:spPr>
        <p:txBody>
          <a:bodyPr wrap="square" rtlCol="0" anchor="ctr"/>
          <a:lstStyle/>
          <a:p>
            <a:pPr indent="0" marL="0">
              <a:buNone/>
            </a:pPr>
            <a:r>
              <a:rPr lang="en-US" sz="1000" dirty="0">
                <a:solidFill>
                  <a:srgbClr val="94A3B8"/>
                </a:solidFill>
              </a:rPr>
              <a:t>Omnichannel customer support powered by a 25-intent NLP classifier resolving order tracking and menu queries.</a:t>
            </a:r>
            <a:endParaRPr lang="en-US" sz="1000" dirty="0"/>
          </a:p>
        </p:txBody>
      </p:sp>
      <p:sp>
        <p:nvSpPr>
          <p:cNvPr id="24" name="Text 22"/>
          <p:cNvSpPr/>
          <p:nvPr/>
        </p:nvSpPr>
        <p:spPr>
          <a:xfrm>
            <a:off x="914400" y="6263640"/>
            <a:ext cx="10360152" cy="320040"/>
          </a:xfrm>
          <a:prstGeom prst="rect">
            <a:avLst/>
          </a:prstGeom>
          <a:noFill/>
          <a:ln/>
        </p:spPr>
        <p:txBody>
          <a:bodyPr wrap="square" rtlCol="0" anchor="ctr"/>
          <a:lstStyle/>
          <a:p>
            <a:pPr indent="0" marL="0">
              <a:buNone/>
            </a:pPr>
            <a:r>
              <a:rPr lang="en-US" sz="1100" dirty="0">
                <a:solidFill>
                  <a:srgbClr val="94A3B8"/>
                </a:solidFill>
              </a:rPr>
              <a:t>Bengaluru, Karnataka • Production Ready Architecture • 4–5 Minute Demonstration Deck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2</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Tech Stack &amp; System Architecture</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Comprehensive full-stack technology stack deployed across frontend, backend, database, and integrations</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731520" y="1508760"/>
            <a:ext cx="3383280" cy="2240280"/>
          </a:xfrm>
          <a:prstGeom prst="roundRect">
            <a:avLst>
              <a:gd name="adj" fmla="val 3265"/>
            </a:avLst>
          </a:prstGeom>
          <a:solidFill>
            <a:srgbClr val="1E293B"/>
          </a:solidFill>
          <a:ln w="12700">
            <a:solidFill>
              <a:srgbClr val="334155"/>
            </a:solidFill>
            <a:prstDash val="solid"/>
          </a:ln>
        </p:spPr>
      </p:sp>
      <p:sp>
        <p:nvSpPr>
          <p:cNvPr id="9" name="Shape 7"/>
          <p:cNvSpPr/>
          <p:nvPr/>
        </p:nvSpPr>
        <p:spPr>
          <a:xfrm>
            <a:off x="868680" y="1645920"/>
            <a:ext cx="1645920" cy="256032"/>
          </a:xfrm>
          <a:prstGeom prst="roundRect">
            <a:avLst>
              <a:gd name="adj" fmla="val 50000"/>
            </a:avLst>
          </a:prstGeom>
          <a:solidFill>
            <a:srgbClr val="38BDF8">
              <a:alpha val="15000"/>
            </a:srgbClr>
          </a:solidFill>
          <a:ln w="12700">
            <a:solidFill>
              <a:srgbClr val="38BDF8"/>
            </a:solidFill>
            <a:prstDash val="solid"/>
          </a:ln>
        </p:spPr>
      </p:sp>
      <p:sp>
        <p:nvSpPr>
          <p:cNvPr id="10" name="Text 8"/>
          <p:cNvSpPr/>
          <p:nvPr/>
        </p:nvSpPr>
        <p:spPr>
          <a:xfrm>
            <a:off x="868680" y="1645920"/>
            <a:ext cx="1645920" cy="256032"/>
          </a:xfrm>
          <a:prstGeom prst="rect">
            <a:avLst/>
          </a:prstGeom>
          <a:noFill/>
          <a:ln/>
        </p:spPr>
        <p:txBody>
          <a:bodyPr wrap="square" rtlCol="0" anchor="ctr"/>
          <a:lstStyle/>
          <a:p>
            <a:pPr algn="ctr" indent="0" marL="0">
              <a:buNone/>
            </a:pPr>
            <a:r>
              <a:rPr lang="en-US" sz="900" b="1" dirty="0">
                <a:solidFill>
                  <a:srgbClr val="38BDF8"/>
                </a:solidFill>
              </a:rPr>
              <a:t>FRONTEND &amp; JSP</a:t>
            </a:r>
            <a:endParaRPr lang="en-US" sz="900" dirty="0"/>
          </a:p>
        </p:txBody>
      </p:sp>
      <p:sp>
        <p:nvSpPr>
          <p:cNvPr id="11" name="Text 9"/>
          <p:cNvSpPr/>
          <p:nvPr/>
        </p:nvSpPr>
        <p:spPr>
          <a:xfrm>
            <a:off x="868680" y="1984248"/>
            <a:ext cx="3108960" cy="201168"/>
          </a:xfrm>
          <a:prstGeom prst="rect">
            <a:avLst/>
          </a:prstGeom>
          <a:noFill/>
          <a:ln/>
        </p:spPr>
        <p:txBody>
          <a:bodyPr wrap="square" rtlCol="0" anchor="ctr"/>
          <a:lstStyle/>
          <a:p>
            <a:pPr indent="0" marL="0">
              <a:buNone/>
            </a:pPr>
            <a:r>
              <a:rPr lang="en-US" sz="1000" b="1" dirty="0">
                <a:solidFill>
                  <a:srgbClr val="F8FAFC"/>
                </a:solidFill>
              </a:rPr>
              <a:t>• HTML5 &amp; CSS3</a:t>
            </a:r>
            <a:endParaRPr lang="en-US" sz="1000" dirty="0"/>
          </a:p>
        </p:txBody>
      </p:sp>
      <p:sp>
        <p:nvSpPr>
          <p:cNvPr id="12" name="Text 10"/>
          <p:cNvSpPr/>
          <p:nvPr/>
        </p:nvSpPr>
        <p:spPr>
          <a:xfrm>
            <a:off x="868680" y="2167128"/>
            <a:ext cx="3108960" cy="201168"/>
          </a:xfrm>
          <a:prstGeom prst="rect">
            <a:avLst/>
          </a:prstGeom>
          <a:noFill/>
          <a:ln/>
        </p:spPr>
        <p:txBody>
          <a:bodyPr wrap="square" rtlCol="0" anchor="ctr"/>
          <a:lstStyle/>
          <a:p>
            <a:pPr indent="0" marL="0">
              <a:buNone/>
            </a:pPr>
            <a:r>
              <a:rPr lang="en-US" sz="900" dirty="0">
                <a:solidFill>
                  <a:srgbClr val="94A3B8"/>
                </a:solidFill>
              </a:rPr>
              <a:t>   Semantic layout, custom dark mode, variables</a:t>
            </a:r>
            <a:endParaRPr lang="en-US" sz="900" dirty="0"/>
          </a:p>
        </p:txBody>
      </p:sp>
      <p:sp>
        <p:nvSpPr>
          <p:cNvPr id="13" name="Text 11"/>
          <p:cNvSpPr/>
          <p:nvPr/>
        </p:nvSpPr>
        <p:spPr>
          <a:xfrm>
            <a:off x="868680" y="2386584"/>
            <a:ext cx="3108960" cy="201168"/>
          </a:xfrm>
          <a:prstGeom prst="rect">
            <a:avLst/>
          </a:prstGeom>
          <a:noFill/>
          <a:ln/>
        </p:spPr>
        <p:txBody>
          <a:bodyPr wrap="square" rtlCol="0" anchor="ctr"/>
          <a:lstStyle/>
          <a:p>
            <a:pPr indent="0" marL="0">
              <a:buNone/>
            </a:pPr>
            <a:r>
              <a:rPr lang="en-US" sz="1000" b="1" dirty="0">
                <a:solidFill>
                  <a:srgbClr val="F8FAFC"/>
                </a:solidFill>
              </a:rPr>
              <a:t>• Bootstrap 5.3 &amp; Icons</a:t>
            </a:r>
            <a:endParaRPr lang="en-US" sz="1000" dirty="0"/>
          </a:p>
        </p:txBody>
      </p:sp>
      <p:sp>
        <p:nvSpPr>
          <p:cNvPr id="14" name="Text 12"/>
          <p:cNvSpPr/>
          <p:nvPr/>
        </p:nvSpPr>
        <p:spPr>
          <a:xfrm>
            <a:off x="868680" y="2569464"/>
            <a:ext cx="3108960" cy="201168"/>
          </a:xfrm>
          <a:prstGeom prst="rect">
            <a:avLst/>
          </a:prstGeom>
          <a:noFill/>
          <a:ln/>
        </p:spPr>
        <p:txBody>
          <a:bodyPr wrap="square" rtlCol="0" anchor="ctr"/>
          <a:lstStyle/>
          <a:p>
            <a:pPr indent="0" marL="0">
              <a:buNone/>
            </a:pPr>
            <a:r>
              <a:rPr lang="en-US" sz="900" dirty="0">
                <a:solidFill>
                  <a:srgbClr val="94A3B8"/>
                </a:solidFill>
              </a:rPr>
              <a:t>   Responsive grid, modals, offcanvas navigation</a:t>
            </a:r>
            <a:endParaRPr lang="en-US" sz="900" dirty="0"/>
          </a:p>
        </p:txBody>
      </p:sp>
      <p:sp>
        <p:nvSpPr>
          <p:cNvPr id="15" name="Text 13"/>
          <p:cNvSpPr/>
          <p:nvPr/>
        </p:nvSpPr>
        <p:spPr>
          <a:xfrm>
            <a:off x="868680" y="2788920"/>
            <a:ext cx="3108960" cy="201168"/>
          </a:xfrm>
          <a:prstGeom prst="rect">
            <a:avLst/>
          </a:prstGeom>
          <a:noFill/>
          <a:ln/>
        </p:spPr>
        <p:txBody>
          <a:bodyPr wrap="square" rtlCol="0" anchor="ctr"/>
          <a:lstStyle/>
          <a:p>
            <a:pPr indent="0" marL="0">
              <a:buNone/>
            </a:pPr>
            <a:r>
              <a:rPr lang="en-US" sz="1000" b="1" dirty="0">
                <a:solidFill>
                  <a:srgbClr val="F8FAFC"/>
                </a:solidFill>
              </a:rPr>
              <a:t>• JSP &amp; JSTL Templates</a:t>
            </a:r>
            <a:endParaRPr lang="en-US" sz="1000" dirty="0"/>
          </a:p>
        </p:txBody>
      </p:sp>
      <p:sp>
        <p:nvSpPr>
          <p:cNvPr id="16" name="Text 14"/>
          <p:cNvSpPr/>
          <p:nvPr/>
        </p:nvSpPr>
        <p:spPr>
          <a:xfrm>
            <a:off x="868680" y="2971800"/>
            <a:ext cx="3108960" cy="201168"/>
          </a:xfrm>
          <a:prstGeom prst="rect">
            <a:avLst/>
          </a:prstGeom>
          <a:noFill/>
          <a:ln/>
        </p:spPr>
        <p:txBody>
          <a:bodyPr wrap="square" rtlCol="0" anchor="ctr"/>
          <a:lstStyle/>
          <a:p>
            <a:pPr indent="0" marL="0">
              <a:buNone/>
            </a:pPr>
            <a:r>
              <a:rPr lang="en-US" sz="900" dirty="0">
                <a:solidFill>
                  <a:srgbClr val="94A3B8"/>
                </a:solidFill>
              </a:rPr>
              <a:t>   Server-Side Rendering, dynamic expression language</a:t>
            </a:r>
            <a:endParaRPr lang="en-US" sz="900" dirty="0"/>
          </a:p>
        </p:txBody>
      </p:sp>
      <p:sp>
        <p:nvSpPr>
          <p:cNvPr id="17" name="Text 15"/>
          <p:cNvSpPr/>
          <p:nvPr/>
        </p:nvSpPr>
        <p:spPr>
          <a:xfrm>
            <a:off x="868680" y="3191256"/>
            <a:ext cx="3108960" cy="201168"/>
          </a:xfrm>
          <a:prstGeom prst="rect">
            <a:avLst/>
          </a:prstGeom>
          <a:noFill/>
          <a:ln/>
        </p:spPr>
        <p:txBody>
          <a:bodyPr wrap="square" rtlCol="0" anchor="ctr"/>
          <a:lstStyle/>
          <a:p>
            <a:pPr indent="0" marL="0">
              <a:buNone/>
            </a:pPr>
            <a:r>
              <a:rPr lang="en-US" sz="1000" b="1" dirty="0">
                <a:solidFill>
                  <a:srgbClr val="F8FAFC"/>
                </a:solidFill>
              </a:rPr>
              <a:t>• JavaScript (ES6+)</a:t>
            </a:r>
            <a:endParaRPr lang="en-US" sz="1000" dirty="0"/>
          </a:p>
        </p:txBody>
      </p:sp>
      <p:sp>
        <p:nvSpPr>
          <p:cNvPr id="18" name="Text 16"/>
          <p:cNvSpPr/>
          <p:nvPr/>
        </p:nvSpPr>
        <p:spPr>
          <a:xfrm>
            <a:off x="868680" y="3374136"/>
            <a:ext cx="3108960" cy="201168"/>
          </a:xfrm>
          <a:prstGeom prst="rect">
            <a:avLst/>
          </a:prstGeom>
          <a:noFill/>
          <a:ln/>
        </p:spPr>
        <p:txBody>
          <a:bodyPr wrap="square" rtlCol="0" anchor="ctr"/>
          <a:lstStyle/>
          <a:p>
            <a:pPr indent="0" marL="0">
              <a:buNone/>
            </a:pPr>
            <a:r>
              <a:rPr lang="en-US" sz="900" dirty="0">
                <a:solidFill>
                  <a:srgbClr val="94A3B8"/>
                </a:solidFill>
              </a:rPr>
              <a:t>   Modular client state, fetch API, local storage</a:t>
            </a:r>
            <a:endParaRPr lang="en-US" sz="900" dirty="0"/>
          </a:p>
        </p:txBody>
      </p:sp>
      <p:sp>
        <p:nvSpPr>
          <p:cNvPr id="19" name="Shape 17"/>
          <p:cNvSpPr/>
          <p:nvPr/>
        </p:nvSpPr>
        <p:spPr>
          <a:xfrm>
            <a:off x="4398264" y="1508760"/>
            <a:ext cx="3383280" cy="2240280"/>
          </a:xfrm>
          <a:prstGeom prst="roundRect">
            <a:avLst>
              <a:gd name="adj" fmla="val 3265"/>
            </a:avLst>
          </a:prstGeom>
          <a:solidFill>
            <a:srgbClr val="1E293B"/>
          </a:solidFill>
          <a:ln w="12700">
            <a:solidFill>
              <a:srgbClr val="334155"/>
            </a:solidFill>
            <a:prstDash val="solid"/>
          </a:ln>
        </p:spPr>
      </p:sp>
      <p:sp>
        <p:nvSpPr>
          <p:cNvPr id="20" name="Shape 18"/>
          <p:cNvSpPr/>
          <p:nvPr/>
        </p:nvSpPr>
        <p:spPr>
          <a:xfrm>
            <a:off x="4535424" y="1645920"/>
            <a:ext cx="1645920" cy="256032"/>
          </a:xfrm>
          <a:prstGeom prst="roundRect">
            <a:avLst>
              <a:gd name="adj" fmla="val 50000"/>
            </a:avLst>
          </a:prstGeom>
          <a:solidFill>
            <a:srgbClr val="10B981">
              <a:alpha val="15000"/>
            </a:srgbClr>
          </a:solidFill>
          <a:ln w="12700">
            <a:solidFill>
              <a:srgbClr val="10B981"/>
            </a:solidFill>
            <a:prstDash val="solid"/>
          </a:ln>
        </p:spPr>
      </p:sp>
      <p:sp>
        <p:nvSpPr>
          <p:cNvPr id="21" name="Text 19"/>
          <p:cNvSpPr/>
          <p:nvPr/>
        </p:nvSpPr>
        <p:spPr>
          <a:xfrm>
            <a:off x="4535424" y="1645920"/>
            <a:ext cx="1645920" cy="256032"/>
          </a:xfrm>
          <a:prstGeom prst="rect">
            <a:avLst/>
          </a:prstGeom>
          <a:noFill/>
          <a:ln/>
        </p:spPr>
        <p:txBody>
          <a:bodyPr wrap="square" rtlCol="0" anchor="ctr"/>
          <a:lstStyle/>
          <a:p>
            <a:pPr algn="ctr" indent="0" marL="0">
              <a:buNone/>
            </a:pPr>
            <a:r>
              <a:rPr lang="en-US" sz="900" b="1" dirty="0">
                <a:solidFill>
                  <a:srgbClr val="10B981"/>
                </a:solidFill>
              </a:rPr>
              <a:t>JAVA BACKEND &amp; SERVLETS</a:t>
            </a:r>
            <a:endParaRPr lang="en-US" sz="900" dirty="0"/>
          </a:p>
        </p:txBody>
      </p:sp>
      <p:sp>
        <p:nvSpPr>
          <p:cNvPr id="22" name="Text 20"/>
          <p:cNvSpPr/>
          <p:nvPr/>
        </p:nvSpPr>
        <p:spPr>
          <a:xfrm>
            <a:off x="4535424" y="1984248"/>
            <a:ext cx="3108960" cy="201168"/>
          </a:xfrm>
          <a:prstGeom prst="rect">
            <a:avLst/>
          </a:prstGeom>
          <a:noFill/>
          <a:ln/>
        </p:spPr>
        <p:txBody>
          <a:bodyPr wrap="square" rtlCol="0" anchor="ctr"/>
          <a:lstStyle/>
          <a:p>
            <a:pPr indent="0" marL="0">
              <a:buNone/>
            </a:pPr>
            <a:r>
              <a:rPr lang="en-US" sz="1000" b="1" dirty="0">
                <a:solidFill>
                  <a:srgbClr val="F8FAFC"/>
                </a:solidFill>
              </a:rPr>
              <a:t>• Java (JDK 17 / 21)</a:t>
            </a:r>
            <a:endParaRPr lang="en-US" sz="1000" dirty="0"/>
          </a:p>
        </p:txBody>
      </p:sp>
      <p:sp>
        <p:nvSpPr>
          <p:cNvPr id="23" name="Text 21"/>
          <p:cNvSpPr/>
          <p:nvPr/>
        </p:nvSpPr>
        <p:spPr>
          <a:xfrm>
            <a:off x="4535424" y="2167128"/>
            <a:ext cx="3108960" cy="201168"/>
          </a:xfrm>
          <a:prstGeom prst="rect">
            <a:avLst/>
          </a:prstGeom>
          <a:noFill/>
          <a:ln/>
        </p:spPr>
        <p:txBody>
          <a:bodyPr wrap="square" rtlCol="0" anchor="ctr"/>
          <a:lstStyle/>
          <a:p>
            <a:pPr indent="0" marL="0">
              <a:buNone/>
            </a:pPr>
            <a:r>
              <a:rPr lang="en-US" sz="900" dirty="0">
                <a:solidFill>
                  <a:srgbClr val="94A3B8"/>
                </a:solidFill>
              </a:rPr>
              <a:t>   Core OOP business logic, robust multithreading</a:t>
            </a:r>
            <a:endParaRPr lang="en-US" sz="900" dirty="0"/>
          </a:p>
        </p:txBody>
      </p:sp>
      <p:sp>
        <p:nvSpPr>
          <p:cNvPr id="24" name="Text 22"/>
          <p:cNvSpPr/>
          <p:nvPr/>
        </p:nvSpPr>
        <p:spPr>
          <a:xfrm>
            <a:off x="4535424" y="2386584"/>
            <a:ext cx="3108960" cy="201168"/>
          </a:xfrm>
          <a:prstGeom prst="rect">
            <a:avLst/>
          </a:prstGeom>
          <a:noFill/>
          <a:ln/>
        </p:spPr>
        <p:txBody>
          <a:bodyPr wrap="square" rtlCol="0" anchor="ctr"/>
          <a:lstStyle/>
          <a:p>
            <a:pPr indent="0" marL="0">
              <a:buNone/>
            </a:pPr>
            <a:r>
              <a:rPr lang="en-US" sz="1000" b="1" dirty="0">
                <a:solidFill>
                  <a:srgbClr val="F8FAFC"/>
                </a:solidFill>
              </a:rPr>
              <a:t>• Java Servlets (Jakarta)</a:t>
            </a:r>
            <a:endParaRPr lang="en-US" sz="1000" dirty="0"/>
          </a:p>
        </p:txBody>
      </p:sp>
      <p:sp>
        <p:nvSpPr>
          <p:cNvPr id="25" name="Text 23"/>
          <p:cNvSpPr/>
          <p:nvPr/>
        </p:nvSpPr>
        <p:spPr>
          <a:xfrm>
            <a:off x="4535424" y="2569464"/>
            <a:ext cx="3108960" cy="201168"/>
          </a:xfrm>
          <a:prstGeom prst="rect">
            <a:avLst/>
          </a:prstGeom>
          <a:noFill/>
          <a:ln/>
        </p:spPr>
        <p:txBody>
          <a:bodyPr wrap="square" rtlCol="0" anchor="ctr"/>
          <a:lstStyle/>
          <a:p>
            <a:pPr indent="0" marL="0">
              <a:buNone/>
            </a:pPr>
            <a:r>
              <a:rPr lang="en-US" sz="900" dirty="0">
                <a:solidFill>
                  <a:srgbClr val="94A3B8"/>
                </a:solidFill>
              </a:rPr>
              <a:t>   MVC Controller dispatching, session management</a:t>
            </a:r>
            <a:endParaRPr lang="en-US" sz="900" dirty="0"/>
          </a:p>
        </p:txBody>
      </p:sp>
      <p:sp>
        <p:nvSpPr>
          <p:cNvPr id="26" name="Text 24"/>
          <p:cNvSpPr/>
          <p:nvPr/>
        </p:nvSpPr>
        <p:spPr>
          <a:xfrm>
            <a:off x="4535424" y="2788920"/>
            <a:ext cx="3108960" cy="201168"/>
          </a:xfrm>
          <a:prstGeom prst="rect">
            <a:avLst/>
          </a:prstGeom>
          <a:noFill/>
          <a:ln/>
        </p:spPr>
        <p:txBody>
          <a:bodyPr wrap="square" rtlCol="0" anchor="ctr"/>
          <a:lstStyle/>
          <a:p>
            <a:pPr indent="0" marL="0">
              <a:buNone/>
            </a:pPr>
            <a:r>
              <a:rPr lang="en-US" sz="1000" b="1" dirty="0">
                <a:solidFill>
                  <a:srgbClr val="F8FAFC"/>
                </a:solidFill>
              </a:rPr>
              <a:t>• DAO &amp; Service Layer</a:t>
            </a:r>
            <a:endParaRPr lang="en-US" sz="1000" dirty="0"/>
          </a:p>
        </p:txBody>
      </p:sp>
      <p:sp>
        <p:nvSpPr>
          <p:cNvPr id="27" name="Text 25"/>
          <p:cNvSpPr/>
          <p:nvPr/>
        </p:nvSpPr>
        <p:spPr>
          <a:xfrm>
            <a:off x="4535424" y="2971800"/>
            <a:ext cx="3108960" cy="201168"/>
          </a:xfrm>
          <a:prstGeom prst="rect">
            <a:avLst/>
          </a:prstGeom>
          <a:noFill/>
          <a:ln/>
        </p:spPr>
        <p:txBody>
          <a:bodyPr wrap="square" rtlCol="0" anchor="ctr"/>
          <a:lstStyle/>
          <a:p>
            <a:pPr indent="0" marL="0">
              <a:buNone/>
            </a:pPr>
            <a:r>
              <a:rPr lang="en-US" sz="900" dirty="0">
                <a:solidFill>
                  <a:srgbClr val="94A3B8"/>
                </a:solidFill>
              </a:rPr>
              <a:t>   Clean separation of concerns, POJO models</a:t>
            </a:r>
            <a:endParaRPr lang="en-US" sz="900" dirty="0"/>
          </a:p>
        </p:txBody>
      </p:sp>
      <p:sp>
        <p:nvSpPr>
          <p:cNvPr id="28" name="Text 26"/>
          <p:cNvSpPr/>
          <p:nvPr/>
        </p:nvSpPr>
        <p:spPr>
          <a:xfrm>
            <a:off x="4535424" y="3191256"/>
            <a:ext cx="3108960" cy="201168"/>
          </a:xfrm>
          <a:prstGeom prst="rect">
            <a:avLst/>
          </a:prstGeom>
          <a:noFill/>
          <a:ln/>
        </p:spPr>
        <p:txBody>
          <a:bodyPr wrap="square" rtlCol="0" anchor="ctr"/>
          <a:lstStyle/>
          <a:p>
            <a:pPr indent="0" marL="0">
              <a:buNone/>
            </a:pPr>
            <a:r>
              <a:rPr lang="en-US" sz="1000" b="1" dirty="0">
                <a:solidFill>
                  <a:srgbClr val="F8FAFC"/>
                </a:solidFill>
              </a:rPr>
              <a:t>• Apache Tomcat Server</a:t>
            </a:r>
            <a:endParaRPr lang="en-US" sz="1000" dirty="0"/>
          </a:p>
        </p:txBody>
      </p:sp>
      <p:sp>
        <p:nvSpPr>
          <p:cNvPr id="29" name="Text 27"/>
          <p:cNvSpPr/>
          <p:nvPr/>
        </p:nvSpPr>
        <p:spPr>
          <a:xfrm>
            <a:off x="4535424" y="3374136"/>
            <a:ext cx="3108960" cy="201168"/>
          </a:xfrm>
          <a:prstGeom prst="rect">
            <a:avLst/>
          </a:prstGeom>
          <a:noFill/>
          <a:ln/>
        </p:spPr>
        <p:txBody>
          <a:bodyPr wrap="square" rtlCol="0" anchor="ctr"/>
          <a:lstStyle/>
          <a:p>
            <a:pPr indent="0" marL="0">
              <a:buNone/>
            </a:pPr>
            <a:r>
              <a:rPr lang="en-US" sz="900" dirty="0">
                <a:solidFill>
                  <a:srgbClr val="94A3B8"/>
                </a:solidFill>
              </a:rPr>
              <a:t>   High-concurrency enterprise Servlet web container</a:t>
            </a:r>
            <a:endParaRPr lang="en-US" sz="900" dirty="0"/>
          </a:p>
        </p:txBody>
      </p:sp>
      <p:sp>
        <p:nvSpPr>
          <p:cNvPr id="30" name="Shape 28"/>
          <p:cNvSpPr/>
          <p:nvPr/>
        </p:nvSpPr>
        <p:spPr>
          <a:xfrm>
            <a:off x="8074152" y="1508760"/>
            <a:ext cx="3383280" cy="2240280"/>
          </a:xfrm>
          <a:prstGeom prst="roundRect">
            <a:avLst>
              <a:gd name="adj" fmla="val 3265"/>
            </a:avLst>
          </a:prstGeom>
          <a:solidFill>
            <a:srgbClr val="1E293B"/>
          </a:solidFill>
          <a:ln w="12700">
            <a:solidFill>
              <a:srgbClr val="334155"/>
            </a:solidFill>
            <a:prstDash val="solid"/>
          </a:ln>
        </p:spPr>
      </p:sp>
      <p:sp>
        <p:nvSpPr>
          <p:cNvPr id="31" name="Shape 29"/>
          <p:cNvSpPr/>
          <p:nvPr/>
        </p:nvSpPr>
        <p:spPr>
          <a:xfrm>
            <a:off x="8211312" y="1645920"/>
            <a:ext cx="1645920" cy="256032"/>
          </a:xfrm>
          <a:prstGeom prst="roundRect">
            <a:avLst>
              <a:gd name="adj" fmla="val 50000"/>
            </a:avLst>
          </a:prstGeom>
          <a:solidFill>
            <a:srgbClr val="F59E0B">
              <a:alpha val="15000"/>
            </a:srgbClr>
          </a:solidFill>
          <a:ln w="12700">
            <a:solidFill>
              <a:srgbClr val="F59E0B"/>
            </a:solidFill>
            <a:prstDash val="solid"/>
          </a:ln>
        </p:spPr>
      </p:sp>
      <p:sp>
        <p:nvSpPr>
          <p:cNvPr id="32" name="Text 30"/>
          <p:cNvSpPr/>
          <p:nvPr/>
        </p:nvSpPr>
        <p:spPr>
          <a:xfrm>
            <a:off x="8211312" y="1645920"/>
            <a:ext cx="1645920" cy="256032"/>
          </a:xfrm>
          <a:prstGeom prst="rect">
            <a:avLst/>
          </a:prstGeom>
          <a:noFill/>
          <a:ln/>
        </p:spPr>
        <p:txBody>
          <a:bodyPr wrap="square" rtlCol="0" anchor="ctr"/>
          <a:lstStyle/>
          <a:p>
            <a:pPr algn="ctr" indent="0" marL="0">
              <a:buNone/>
            </a:pPr>
            <a:r>
              <a:rPr lang="en-US" sz="900" b="1" dirty="0">
                <a:solidFill>
                  <a:srgbClr val="F59E0B"/>
                </a:solidFill>
              </a:rPr>
              <a:t>DATABASE &amp; PERSISTENCE</a:t>
            </a:r>
            <a:endParaRPr lang="en-US" sz="900" dirty="0"/>
          </a:p>
        </p:txBody>
      </p:sp>
      <p:sp>
        <p:nvSpPr>
          <p:cNvPr id="33" name="Text 31"/>
          <p:cNvSpPr/>
          <p:nvPr/>
        </p:nvSpPr>
        <p:spPr>
          <a:xfrm>
            <a:off x="8211312" y="1984248"/>
            <a:ext cx="3108960" cy="201168"/>
          </a:xfrm>
          <a:prstGeom prst="rect">
            <a:avLst/>
          </a:prstGeom>
          <a:noFill/>
          <a:ln/>
        </p:spPr>
        <p:txBody>
          <a:bodyPr wrap="square" rtlCol="0" anchor="ctr"/>
          <a:lstStyle/>
          <a:p>
            <a:pPr indent="0" marL="0">
              <a:buNone/>
            </a:pPr>
            <a:r>
              <a:rPr lang="en-US" sz="1000" b="1" dirty="0">
                <a:solidFill>
                  <a:srgbClr val="F8FAFC"/>
                </a:solidFill>
              </a:rPr>
              <a:t>• MySQL 9.7 Server</a:t>
            </a:r>
            <a:endParaRPr lang="en-US" sz="1000" dirty="0"/>
          </a:p>
        </p:txBody>
      </p:sp>
      <p:sp>
        <p:nvSpPr>
          <p:cNvPr id="34" name="Text 32"/>
          <p:cNvSpPr/>
          <p:nvPr/>
        </p:nvSpPr>
        <p:spPr>
          <a:xfrm>
            <a:off x="8211312" y="2167128"/>
            <a:ext cx="3108960" cy="201168"/>
          </a:xfrm>
          <a:prstGeom prst="rect">
            <a:avLst/>
          </a:prstGeom>
          <a:noFill/>
          <a:ln/>
        </p:spPr>
        <p:txBody>
          <a:bodyPr wrap="square" rtlCol="0" anchor="ctr"/>
          <a:lstStyle/>
          <a:p>
            <a:pPr indent="0" marL="0">
              <a:buNone/>
            </a:pPr>
            <a:r>
              <a:rPr lang="en-US" sz="900" dirty="0">
                <a:solidFill>
                  <a:srgbClr val="94A3B8"/>
                </a:solidFill>
              </a:rPr>
              <a:t>   22 relational tables, InnoDB engine, ACID</a:t>
            </a:r>
            <a:endParaRPr lang="en-US" sz="900" dirty="0"/>
          </a:p>
        </p:txBody>
      </p:sp>
      <p:sp>
        <p:nvSpPr>
          <p:cNvPr id="35" name="Text 33"/>
          <p:cNvSpPr/>
          <p:nvPr/>
        </p:nvSpPr>
        <p:spPr>
          <a:xfrm>
            <a:off x="8211312" y="2386584"/>
            <a:ext cx="3108960" cy="201168"/>
          </a:xfrm>
          <a:prstGeom prst="rect">
            <a:avLst/>
          </a:prstGeom>
          <a:noFill/>
          <a:ln/>
        </p:spPr>
        <p:txBody>
          <a:bodyPr wrap="square" rtlCol="0" anchor="ctr"/>
          <a:lstStyle/>
          <a:p>
            <a:pPr indent="0" marL="0">
              <a:buNone/>
            </a:pPr>
            <a:r>
              <a:rPr lang="en-US" sz="1000" b="1" dirty="0">
                <a:solidFill>
                  <a:srgbClr val="F8FAFC"/>
                </a:solidFill>
              </a:rPr>
              <a:t>• JDBC &amp; Connection Pool</a:t>
            </a:r>
            <a:endParaRPr lang="en-US" sz="1000" dirty="0"/>
          </a:p>
        </p:txBody>
      </p:sp>
      <p:sp>
        <p:nvSpPr>
          <p:cNvPr id="36" name="Text 34"/>
          <p:cNvSpPr/>
          <p:nvPr/>
        </p:nvSpPr>
        <p:spPr>
          <a:xfrm>
            <a:off x="8211312" y="2569464"/>
            <a:ext cx="3108960" cy="201168"/>
          </a:xfrm>
          <a:prstGeom prst="rect">
            <a:avLst/>
          </a:prstGeom>
          <a:noFill/>
          <a:ln/>
        </p:spPr>
        <p:txBody>
          <a:bodyPr wrap="square" rtlCol="0" anchor="ctr"/>
          <a:lstStyle/>
          <a:p>
            <a:pPr indent="0" marL="0">
              <a:buNone/>
            </a:pPr>
            <a:r>
              <a:rPr lang="en-US" sz="900" dirty="0">
                <a:solidFill>
                  <a:srgbClr val="94A3B8"/>
                </a:solidFill>
              </a:rPr>
              <a:t>   Optimized DAO persistence with PreparedStatement</a:t>
            </a:r>
            <a:endParaRPr lang="en-US" sz="900" dirty="0"/>
          </a:p>
        </p:txBody>
      </p:sp>
      <p:sp>
        <p:nvSpPr>
          <p:cNvPr id="37" name="Text 35"/>
          <p:cNvSpPr/>
          <p:nvPr/>
        </p:nvSpPr>
        <p:spPr>
          <a:xfrm>
            <a:off x="8211312" y="2788920"/>
            <a:ext cx="3108960" cy="201168"/>
          </a:xfrm>
          <a:prstGeom prst="rect">
            <a:avLst/>
          </a:prstGeom>
          <a:noFill/>
          <a:ln/>
        </p:spPr>
        <p:txBody>
          <a:bodyPr wrap="square" rtlCol="0" anchor="ctr"/>
          <a:lstStyle/>
          <a:p>
            <a:pPr indent="0" marL="0">
              <a:buNone/>
            </a:pPr>
            <a:r>
              <a:rPr lang="en-US" sz="1000" b="1" dirty="0">
                <a:solidFill>
                  <a:srgbClr val="F8FAFC"/>
                </a:solidFill>
              </a:rPr>
              <a:t>• Foreign Key Integrity</a:t>
            </a:r>
            <a:endParaRPr lang="en-US" sz="1000" dirty="0"/>
          </a:p>
        </p:txBody>
      </p:sp>
      <p:sp>
        <p:nvSpPr>
          <p:cNvPr id="38" name="Text 36"/>
          <p:cNvSpPr/>
          <p:nvPr/>
        </p:nvSpPr>
        <p:spPr>
          <a:xfrm>
            <a:off x="8211312" y="2971800"/>
            <a:ext cx="3108960" cy="201168"/>
          </a:xfrm>
          <a:prstGeom prst="rect">
            <a:avLst/>
          </a:prstGeom>
          <a:noFill/>
          <a:ln/>
        </p:spPr>
        <p:txBody>
          <a:bodyPr wrap="square" rtlCol="0" anchor="ctr"/>
          <a:lstStyle/>
          <a:p>
            <a:pPr indent="0" marL="0">
              <a:buNone/>
            </a:pPr>
            <a:r>
              <a:rPr lang="en-US" sz="900" dirty="0">
                <a:solidFill>
                  <a:srgbClr val="94A3B8"/>
                </a:solidFill>
              </a:rPr>
              <a:t>   Cascading updates, constraints, normalized 3NF</a:t>
            </a:r>
            <a:endParaRPr lang="en-US" sz="900" dirty="0"/>
          </a:p>
        </p:txBody>
      </p:sp>
      <p:sp>
        <p:nvSpPr>
          <p:cNvPr id="39" name="Text 37"/>
          <p:cNvSpPr/>
          <p:nvPr/>
        </p:nvSpPr>
        <p:spPr>
          <a:xfrm>
            <a:off x="8211312" y="3191256"/>
            <a:ext cx="3108960" cy="201168"/>
          </a:xfrm>
          <a:prstGeom prst="rect">
            <a:avLst/>
          </a:prstGeom>
          <a:noFill/>
          <a:ln/>
        </p:spPr>
        <p:txBody>
          <a:bodyPr wrap="square" rtlCol="0" anchor="ctr"/>
          <a:lstStyle/>
          <a:p>
            <a:pPr indent="0" marL="0">
              <a:buNone/>
            </a:pPr>
            <a:r>
              <a:rPr lang="en-US" sz="1000" b="1" dirty="0">
                <a:solidFill>
                  <a:srgbClr val="F8FAFC"/>
                </a:solidFill>
              </a:rPr>
              <a:t>• Audit &amp; Tracking</a:t>
            </a:r>
            <a:endParaRPr lang="en-US" sz="1000" dirty="0"/>
          </a:p>
        </p:txBody>
      </p:sp>
      <p:sp>
        <p:nvSpPr>
          <p:cNvPr id="40" name="Text 38"/>
          <p:cNvSpPr/>
          <p:nvPr/>
        </p:nvSpPr>
        <p:spPr>
          <a:xfrm>
            <a:off x="8211312" y="3374136"/>
            <a:ext cx="3108960" cy="201168"/>
          </a:xfrm>
          <a:prstGeom prst="rect">
            <a:avLst/>
          </a:prstGeom>
          <a:noFill/>
          <a:ln/>
        </p:spPr>
        <p:txBody>
          <a:bodyPr wrap="square" rtlCol="0" anchor="ctr"/>
          <a:lstStyle/>
          <a:p>
            <a:pPr indent="0" marL="0">
              <a:buNone/>
            </a:pPr>
            <a:r>
              <a:rPr lang="en-US" sz="900" dirty="0">
                <a:solidFill>
                  <a:srgbClr val="94A3B8"/>
                </a:solidFill>
              </a:rPr>
              <a:t>   order_status_history, login_history, activity_log</a:t>
            </a:r>
            <a:endParaRPr lang="en-US" sz="900" dirty="0"/>
          </a:p>
        </p:txBody>
      </p:sp>
      <p:sp>
        <p:nvSpPr>
          <p:cNvPr id="41" name="Shape 39"/>
          <p:cNvSpPr/>
          <p:nvPr/>
        </p:nvSpPr>
        <p:spPr>
          <a:xfrm>
            <a:off x="731520" y="3977640"/>
            <a:ext cx="3383280" cy="2240280"/>
          </a:xfrm>
          <a:prstGeom prst="roundRect">
            <a:avLst>
              <a:gd name="adj" fmla="val 3265"/>
            </a:avLst>
          </a:prstGeom>
          <a:solidFill>
            <a:srgbClr val="1E293B"/>
          </a:solidFill>
          <a:ln w="12700">
            <a:solidFill>
              <a:srgbClr val="334155"/>
            </a:solidFill>
            <a:prstDash val="solid"/>
          </a:ln>
        </p:spPr>
      </p:sp>
      <p:sp>
        <p:nvSpPr>
          <p:cNvPr id="42" name="Shape 40"/>
          <p:cNvSpPr/>
          <p:nvPr/>
        </p:nvSpPr>
        <p:spPr>
          <a:xfrm>
            <a:off x="868680" y="4114800"/>
            <a:ext cx="1645920" cy="256032"/>
          </a:xfrm>
          <a:prstGeom prst="roundRect">
            <a:avLst>
              <a:gd name="adj" fmla="val 50000"/>
            </a:avLst>
          </a:prstGeom>
          <a:solidFill>
            <a:srgbClr val="EF4444">
              <a:alpha val="15000"/>
            </a:srgbClr>
          </a:solidFill>
          <a:ln w="12700">
            <a:solidFill>
              <a:srgbClr val="EF4444"/>
            </a:solidFill>
            <a:prstDash val="solid"/>
          </a:ln>
        </p:spPr>
      </p:sp>
      <p:sp>
        <p:nvSpPr>
          <p:cNvPr id="43" name="Text 41"/>
          <p:cNvSpPr/>
          <p:nvPr/>
        </p:nvSpPr>
        <p:spPr>
          <a:xfrm>
            <a:off x="868680" y="4114800"/>
            <a:ext cx="1645920" cy="256032"/>
          </a:xfrm>
          <a:prstGeom prst="rect">
            <a:avLst/>
          </a:prstGeom>
          <a:noFill/>
          <a:ln/>
        </p:spPr>
        <p:txBody>
          <a:bodyPr wrap="square" rtlCol="0" anchor="ctr"/>
          <a:lstStyle/>
          <a:p>
            <a:pPr algn="ctr" indent="0" marL="0">
              <a:buNone/>
            </a:pPr>
            <a:r>
              <a:rPr lang="en-US" sz="900" b="1" dirty="0">
                <a:solidFill>
                  <a:srgbClr val="EF4444"/>
                </a:solidFill>
              </a:rPr>
              <a:t>SECURITY &amp; AUTH</a:t>
            </a:r>
            <a:endParaRPr lang="en-US" sz="900" dirty="0"/>
          </a:p>
        </p:txBody>
      </p:sp>
      <p:sp>
        <p:nvSpPr>
          <p:cNvPr id="44" name="Text 42"/>
          <p:cNvSpPr/>
          <p:nvPr/>
        </p:nvSpPr>
        <p:spPr>
          <a:xfrm>
            <a:off x="868680" y="4453128"/>
            <a:ext cx="3108960" cy="201168"/>
          </a:xfrm>
          <a:prstGeom prst="rect">
            <a:avLst/>
          </a:prstGeom>
          <a:noFill/>
          <a:ln/>
        </p:spPr>
        <p:txBody>
          <a:bodyPr wrap="square" rtlCol="0" anchor="ctr"/>
          <a:lstStyle/>
          <a:p>
            <a:pPr indent="0" marL="0">
              <a:buNone/>
            </a:pPr>
            <a:r>
              <a:rPr lang="en-US" sz="1000" b="1" dirty="0">
                <a:solidFill>
                  <a:srgbClr val="F8FAFC"/>
                </a:solidFill>
              </a:rPr>
              <a:t>• Argon2id &amp; BCrypt</a:t>
            </a:r>
            <a:endParaRPr lang="en-US" sz="1000" dirty="0"/>
          </a:p>
        </p:txBody>
      </p:sp>
      <p:sp>
        <p:nvSpPr>
          <p:cNvPr id="45" name="Text 43"/>
          <p:cNvSpPr/>
          <p:nvPr/>
        </p:nvSpPr>
        <p:spPr>
          <a:xfrm>
            <a:off x="868680" y="4636008"/>
            <a:ext cx="3108960" cy="201168"/>
          </a:xfrm>
          <a:prstGeom prst="rect">
            <a:avLst/>
          </a:prstGeom>
          <a:noFill/>
          <a:ln/>
        </p:spPr>
        <p:txBody>
          <a:bodyPr wrap="square" rtlCol="0" anchor="ctr"/>
          <a:lstStyle/>
          <a:p>
            <a:pPr indent="0" marL="0">
              <a:buNone/>
            </a:pPr>
            <a:r>
              <a:rPr lang="en-US" sz="900" dirty="0">
                <a:solidFill>
                  <a:srgbClr val="94A3B8"/>
                </a:solidFill>
              </a:rPr>
              <a:t>   State-of-the-art memory-hard password encryption</a:t>
            </a:r>
            <a:endParaRPr lang="en-US" sz="900" dirty="0"/>
          </a:p>
        </p:txBody>
      </p:sp>
      <p:sp>
        <p:nvSpPr>
          <p:cNvPr id="46" name="Text 44"/>
          <p:cNvSpPr/>
          <p:nvPr/>
        </p:nvSpPr>
        <p:spPr>
          <a:xfrm>
            <a:off x="868680" y="4855464"/>
            <a:ext cx="3108960" cy="201168"/>
          </a:xfrm>
          <a:prstGeom prst="rect">
            <a:avLst/>
          </a:prstGeom>
          <a:noFill/>
          <a:ln/>
        </p:spPr>
        <p:txBody>
          <a:bodyPr wrap="square" rtlCol="0" anchor="ctr"/>
          <a:lstStyle/>
          <a:p>
            <a:pPr indent="0" marL="0">
              <a:buNone/>
            </a:pPr>
            <a:r>
              <a:rPr lang="en-US" sz="1000" b="1" dirty="0">
                <a:solidFill>
                  <a:srgbClr val="F8FAFC"/>
                </a:solidFill>
              </a:rPr>
              <a:t>• Role-Based Access (RBAC)</a:t>
            </a:r>
            <a:endParaRPr lang="en-US" sz="1000" dirty="0"/>
          </a:p>
        </p:txBody>
      </p:sp>
      <p:sp>
        <p:nvSpPr>
          <p:cNvPr id="47" name="Text 45"/>
          <p:cNvSpPr/>
          <p:nvPr/>
        </p:nvSpPr>
        <p:spPr>
          <a:xfrm>
            <a:off x="868680" y="5038344"/>
            <a:ext cx="3108960" cy="201168"/>
          </a:xfrm>
          <a:prstGeom prst="rect">
            <a:avLst/>
          </a:prstGeom>
          <a:noFill/>
          <a:ln/>
        </p:spPr>
        <p:txBody>
          <a:bodyPr wrap="square" rtlCol="0" anchor="ctr"/>
          <a:lstStyle/>
          <a:p>
            <a:pPr indent="0" marL="0">
              <a:buNone/>
            </a:pPr>
            <a:r>
              <a:rPr lang="en-US" sz="900" dirty="0">
                <a:solidFill>
                  <a:srgbClr val="94A3B8"/>
                </a:solidFill>
              </a:rPr>
              <a:t>   Super Admin, Store Manager, Rider, Customer</a:t>
            </a:r>
            <a:endParaRPr lang="en-US" sz="900" dirty="0"/>
          </a:p>
        </p:txBody>
      </p:sp>
      <p:sp>
        <p:nvSpPr>
          <p:cNvPr id="48" name="Text 46"/>
          <p:cNvSpPr/>
          <p:nvPr/>
        </p:nvSpPr>
        <p:spPr>
          <a:xfrm>
            <a:off x="868680" y="5257800"/>
            <a:ext cx="3108960" cy="201168"/>
          </a:xfrm>
          <a:prstGeom prst="rect">
            <a:avLst/>
          </a:prstGeom>
          <a:noFill/>
          <a:ln/>
        </p:spPr>
        <p:txBody>
          <a:bodyPr wrap="square" rtlCol="0" anchor="ctr"/>
          <a:lstStyle/>
          <a:p>
            <a:pPr indent="0" marL="0">
              <a:buNone/>
            </a:pPr>
            <a:r>
              <a:rPr lang="en-US" sz="1000" b="1" dirty="0">
                <a:solidFill>
                  <a:srgbClr val="F8FAFC"/>
                </a:solidFill>
              </a:rPr>
              <a:t>• Servlet Filters &amp; CORS</a:t>
            </a:r>
            <a:endParaRPr lang="en-US" sz="1000" dirty="0"/>
          </a:p>
        </p:txBody>
      </p:sp>
      <p:sp>
        <p:nvSpPr>
          <p:cNvPr id="49" name="Text 47"/>
          <p:cNvSpPr/>
          <p:nvPr/>
        </p:nvSpPr>
        <p:spPr>
          <a:xfrm>
            <a:off x="868680" y="5440680"/>
            <a:ext cx="3108960" cy="201168"/>
          </a:xfrm>
          <a:prstGeom prst="rect">
            <a:avLst/>
          </a:prstGeom>
          <a:noFill/>
          <a:ln/>
        </p:spPr>
        <p:txBody>
          <a:bodyPr wrap="square" rtlCol="0" anchor="ctr"/>
          <a:lstStyle/>
          <a:p>
            <a:pPr indent="0" marL="0">
              <a:buNone/>
            </a:pPr>
            <a:r>
              <a:rPr lang="en-US" sz="900" dirty="0">
                <a:solidFill>
                  <a:srgbClr val="94A3B8"/>
                </a:solidFill>
              </a:rPr>
              <a:t>   CORSFilter, request validation, session guards</a:t>
            </a:r>
            <a:endParaRPr lang="en-US" sz="900" dirty="0"/>
          </a:p>
        </p:txBody>
      </p:sp>
      <p:sp>
        <p:nvSpPr>
          <p:cNvPr id="50" name="Text 48"/>
          <p:cNvSpPr/>
          <p:nvPr/>
        </p:nvSpPr>
        <p:spPr>
          <a:xfrm>
            <a:off x="868680" y="5660136"/>
            <a:ext cx="3108960" cy="201168"/>
          </a:xfrm>
          <a:prstGeom prst="rect">
            <a:avLst/>
          </a:prstGeom>
          <a:noFill/>
          <a:ln/>
        </p:spPr>
        <p:txBody>
          <a:bodyPr wrap="square" rtlCol="0" anchor="ctr"/>
          <a:lstStyle/>
          <a:p>
            <a:pPr indent="0" marL="0">
              <a:buNone/>
            </a:pPr>
            <a:r>
              <a:rPr lang="en-US" sz="1000" b="1" dirty="0">
                <a:solidFill>
                  <a:srgbClr val="F8FAFC"/>
                </a:solidFill>
              </a:rPr>
              <a:t>• Store Data Isolation</a:t>
            </a:r>
            <a:endParaRPr lang="en-US" sz="1000" dirty="0"/>
          </a:p>
        </p:txBody>
      </p:sp>
      <p:sp>
        <p:nvSpPr>
          <p:cNvPr id="51" name="Text 49"/>
          <p:cNvSpPr/>
          <p:nvPr/>
        </p:nvSpPr>
        <p:spPr>
          <a:xfrm>
            <a:off x="868680" y="5843016"/>
            <a:ext cx="3108960" cy="201168"/>
          </a:xfrm>
          <a:prstGeom prst="rect">
            <a:avLst/>
          </a:prstGeom>
          <a:noFill/>
          <a:ln/>
        </p:spPr>
        <p:txBody>
          <a:bodyPr wrap="square" rtlCol="0" anchor="ctr"/>
          <a:lstStyle/>
          <a:p>
            <a:pPr indent="0" marL="0">
              <a:buNone/>
            </a:pPr>
            <a:r>
              <a:rPr lang="en-US" sz="900" dirty="0">
                <a:solidFill>
                  <a:srgbClr val="94A3B8"/>
                </a:solidFill>
              </a:rPr>
              <a:t>   Enforced tenant separation on manager routes</a:t>
            </a:r>
            <a:endParaRPr lang="en-US" sz="900" dirty="0"/>
          </a:p>
        </p:txBody>
      </p:sp>
      <p:sp>
        <p:nvSpPr>
          <p:cNvPr id="52" name="Shape 50"/>
          <p:cNvSpPr/>
          <p:nvPr/>
        </p:nvSpPr>
        <p:spPr>
          <a:xfrm>
            <a:off x="4398264" y="3977640"/>
            <a:ext cx="3383280" cy="2240280"/>
          </a:xfrm>
          <a:prstGeom prst="roundRect">
            <a:avLst>
              <a:gd name="adj" fmla="val 3265"/>
            </a:avLst>
          </a:prstGeom>
          <a:solidFill>
            <a:srgbClr val="1E293B"/>
          </a:solidFill>
          <a:ln w="12700">
            <a:solidFill>
              <a:srgbClr val="334155"/>
            </a:solidFill>
            <a:prstDash val="solid"/>
          </a:ln>
        </p:spPr>
      </p:sp>
      <p:sp>
        <p:nvSpPr>
          <p:cNvPr id="53" name="Shape 51"/>
          <p:cNvSpPr/>
          <p:nvPr/>
        </p:nvSpPr>
        <p:spPr>
          <a:xfrm>
            <a:off x="4535424" y="4114800"/>
            <a:ext cx="1645920" cy="256032"/>
          </a:xfrm>
          <a:prstGeom prst="roundRect">
            <a:avLst>
              <a:gd name="adj" fmla="val 50000"/>
            </a:avLst>
          </a:prstGeom>
          <a:solidFill>
            <a:srgbClr val="8B5CF6">
              <a:alpha val="15000"/>
            </a:srgbClr>
          </a:solidFill>
          <a:ln w="12700">
            <a:solidFill>
              <a:srgbClr val="8B5CF6"/>
            </a:solidFill>
            <a:prstDash val="solid"/>
          </a:ln>
        </p:spPr>
      </p:sp>
      <p:sp>
        <p:nvSpPr>
          <p:cNvPr id="54" name="Text 52"/>
          <p:cNvSpPr/>
          <p:nvPr/>
        </p:nvSpPr>
        <p:spPr>
          <a:xfrm>
            <a:off x="4535424" y="4114800"/>
            <a:ext cx="1645920" cy="256032"/>
          </a:xfrm>
          <a:prstGeom prst="rect">
            <a:avLst/>
          </a:prstGeom>
          <a:noFill/>
          <a:ln/>
        </p:spPr>
        <p:txBody>
          <a:bodyPr wrap="square" rtlCol="0" anchor="ctr"/>
          <a:lstStyle/>
          <a:p>
            <a:pPr algn="ctr" indent="0" marL="0">
              <a:buNone/>
            </a:pPr>
            <a:r>
              <a:rPr lang="en-US" sz="900" b="1" dirty="0">
                <a:solidFill>
                  <a:srgbClr val="8B5CF6"/>
                </a:solidFill>
              </a:rPr>
              <a:t>PAYMENT &amp; COMMS</a:t>
            </a:r>
            <a:endParaRPr lang="en-US" sz="900" dirty="0"/>
          </a:p>
        </p:txBody>
      </p:sp>
      <p:sp>
        <p:nvSpPr>
          <p:cNvPr id="55" name="Text 53"/>
          <p:cNvSpPr/>
          <p:nvPr/>
        </p:nvSpPr>
        <p:spPr>
          <a:xfrm>
            <a:off x="4535424" y="4453128"/>
            <a:ext cx="3108960" cy="201168"/>
          </a:xfrm>
          <a:prstGeom prst="rect">
            <a:avLst/>
          </a:prstGeom>
          <a:noFill/>
          <a:ln/>
        </p:spPr>
        <p:txBody>
          <a:bodyPr wrap="square" rtlCol="0" anchor="ctr"/>
          <a:lstStyle/>
          <a:p>
            <a:pPr indent="0" marL="0">
              <a:buNone/>
            </a:pPr>
            <a:r>
              <a:rPr lang="en-US" sz="1000" b="1" dirty="0">
                <a:solidFill>
                  <a:srgbClr val="F8FAFC"/>
                </a:solidFill>
              </a:rPr>
              <a:t>• Razorpay API Gateway</a:t>
            </a:r>
            <a:endParaRPr lang="en-US" sz="1000" dirty="0"/>
          </a:p>
        </p:txBody>
      </p:sp>
      <p:sp>
        <p:nvSpPr>
          <p:cNvPr id="56" name="Text 54"/>
          <p:cNvSpPr/>
          <p:nvPr/>
        </p:nvSpPr>
        <p:spPr>
          <a:xfrm>
            <a:off x="4535424" y="4636008"/>
            <a:ext cx="3108960" cy="201168"/>
          </a:xfrm>
          <a:prstGeom prst="rect">
            <a:avLst/>
          </a:prstGeom>
          <a:noFill/>
          <a:ln/>
        </p:spPr>
        <p:txBody>
          <a:bodyPr wrap="square" rtlCol="0" anchor="ctr"/>
          <a:lstStyle/>
          <a:p>
            <a:pPr indent="0" marL="0">
              <a:buNone/>
            </a:pPr>
            <a:r>
              <a:rPr lang="en-US" sz="900" dirty="0">
                <a:solidFill>
                  <a:srgbClr val="94A3B8"/>
                </a:solidFill>
              </a:rPr>
              <a:t>   UPI, Debit/Credit cards, NetBanking, COD</a:t>
            </a:r>
            <a:endParaRPr lang="en-US" sz="900" dirty="0"/>
          </a:p>
        </p:txBody>
      </p:sp>
      <p:sp>
        <p:nvSpPr>
          <p:cNvPr id="57" name="Text 55"/>
          <p:cNvSpPr/>
          <p:nvPr/>
        </p:nvSpPr>
        <p:spPr>
          <a:xfrm>
            <a:off x="4535424" y="4855464"/>
            <a:ext cx="3108960" cy="201168"/>
          </a:xfrm>
          <a:prstGeom prst="rect">
            <a:avLst/>
          </a:prstGeom>
          <a:noFill/>
          <a:ln/>
        </p:spPr>
        <p:txBody>
          <a:bodyPr wrap="square" rtlCol="0" anchor="ctr"/>
          <a:lstStyle/>
          <a:p>
            <a:pPr indent="0" marL="0">
              <a:buNone/>
            </a:pPr>
            <a:r>
              <a:rPr lang="en-US" sz="1000" b="1" dirty="0">
                <a:solidFill>
                  <a:srgbClr val="F8FAFC"/>
                </a:solidFill>
              </a:rPr>
              <a:t>• WhatsApp Cloud API</a:t>
            </a:r>
            <a:endParaRPr lang="en-US" sz="1000" dirty="0"/>
          </a:p>
        </p:txBody>
      </p:sp>
      <p:sp>
        <p:nvSpPr>
          <p:cNvPr id="58" name="Text 56"/>
          <p:cNvSpPr/>
          <p:nvPr/>
        </p:nvSpPr>
        <p:spPr>
          <a:xfrm>
            <a:off x="4535424" y="5038344"/>
            <a:ext cx="3108960" cy="201168"/>
          </a:xfrm>
          <a:prstGeom prst="rect">
            <a:avLst/>
          </a:prstGeom>
          <a:noFill/>
          <a:ln/>
        </p:spPr>
        <p:txBody>
          <a:bodyPr wrap="square" rtlCol="0" anchor="ctr"/>
          <a:lstStyle/>
          <a:p>
            <a:pPr indent="0" marL="0">
              <a:buNone/>
            </a:pPr>
            <a:r>
              <a:rPr lang="en-US" sz="900" dirty="0">
                <a:solidFill>
                  <a:srgbClr val="94A3B8"/>
                </a:solidFill>
              </a:rPr>
              <a:t>   Graph API v18.0 automated conversational desk</a:t>
            </a:r>
            <a:endParaRPr lang="en-US" sz="900" dirty="0"/>
          </a:p>
        </p:txBody>
      </p:sp>
      <p:sp>
        <p:nvSpPr>
          <p:cNvPr id="59" name="Text 57"/>
          <p:cNvSpPr/>
          <p:nvPr/>
        </p:nvSpPr>
        <p:spPr>
          <a:xfrm>
            <a:off x="4535424" y="5257800"/>
            <a:ext cx="3108960" cy="201168"/>
          </a:xfrm>
          <a:prstGeom prst="rect">
            <a:avLst/>
          </a:prstGeom>
          <a:noFill/>
          <a:ln/>
        </p:spPr>
        <p:txBody>
          <a:bodyPr wrap="square" rtlCol="0" anchor="ctr"/>
          <a:lstStyle/>
          <a:p>
            <a:pPr indent="0" marL="0">
              <a:buNone/>
            </a:pPr>
            <a:r>
              <a:rPr lang="en-US" sz="1000" b="1" dirty="0">
                <a:solidFill>
                  <a:srgbClr val="F8FAFC"/>
                </a:solidFill>
              </a:rPr>
              <a:t>• EmailJS Receipt Delivery</a:t>
            </a:r>
            <a:endParaRPr lang="en-US" sz="1000" dirty="0"/>
          </a:p>
        </p:txBody>
      </p:sp>
      <p:sp>
        <p:nvSpPr>
          <p:cNvPr id="60" name="Text 58"/>
          <p:cNvSpPr/>
          <p:nvPr/>
        </p:nvSpPr>
        <p:spPr>
          <a:xfrm>
            <a:off x="4535424" y="5440680"/>
            <a:ext cx="3108960" cy="201168"/>
          </a:xfrm>
          <a:prstGeom prst="rect">
            <a:avLst/>
          </a:prstGeom>
          <a:noFill/>
          <a:ln/>
        </p:spPr>
        <p:txBody>
          <a:bodyPr wrap="square" rtlCol="0" anchor="ctr"/>
          <a:lstStyle/>
          <a:p>
            <a:pPr indent="0" marL="0">
              <a:buNone/>
            </a:pPr>
            <a:r>
              <a:rPr lang="en-US" sz="900" dirty="0">
                <a:solidFill>
                  <a:srgbClr val="94A3B8"/>
                </a:solidFill>
              </a:rPr>
              <a:t>   Instant transactional order confirmation emails</a:t>
            </a:r>
            <a:endParaRPr lang="en-US" sz="900" dirty="0"/>
          </a:p>
        </p:txBody>
      </p:sp>
      <p:sp>
        <p:nvSpPr>
          <p:cNvPr id="61" name="Text 59"/>
          <p:cNvSpPr/>
          <p:nvPr/>
        </p:nvSpPr>
        <p:spPr>
          <a:xfrm>
            <a:off x="4535424" y="5660136"/>
            <a:ext cx="3108960" cy="201168"/>
          </a:xfrm>
          <a:prstGeom prst="rect">
            <a:avLst/>
          </a:prstGeom>
          <a:noFill/>
          <a:ln/>
        </p:spPr>
        <p:txBody>
          <a:bodyPr wrap="square" rtlCol="0" anchor="ctr"/>
          <a:lstStyle/>
          <a:p>
            <a:pPr indent="0" marL="0">
              <a:buNone/>
            </a:pPr>
            <a:r>
              <a:rPr lang="en-US" sz="1000" b="1" dirty="0">
                <a:solidFill>
                  <a:srgbClr val="F8FAFC"/>
                </a:solidFill>
              </a:rPr>
              <a:t>• In-Browser AI Desk</a:t>
            </a:r>
            <a:endParaRPr lang="en-US" sz="1000" dirty="0"/>
          </a:p>
        </p:txBody>
      </p:sp>
      <p:sp>
        <p:nvSpPr>
          <p:cNvPr id="62" name="Text 60"/>
          <p:cNvSpPr/>
          <p:nvPr/>
        </p:nvSpPr>
        <p:spPr>
          <a:xfrm>
            <a:off x="4535424" y="5843016"/>
            <a:ext cx="3108960" cy="201168"/>
          </a:xfrm>
          <a:prstGeom prst="rect">
            <a:avLst/>
          </a:prstGeom>
          <a:noFill/>
          <a:ln/>
        </p:spPr>
        <p:txBody>
          <a:bodyPr wrap="square" rtlCol="0" anchor="ctr"/>
          <a:lstStyle/>
          <a:p>
            <a:pPr indent="0" marL="0">
              <a:buNone/>
            </a:pPr>
            <a:r>
              <a:rPr lang="en-US" sz="900" dirty="0">
                <a:solidFill>
                  <a:srgbClr val="94A3B8"/>
                </a:solidFill>
              </a:rPr>
              <a:t>   Instant floating fallback chat widget</a:t>
            </a:r>
            <a:endParaRPr lang="en-US" sz="900" dirty="0"/>
          </a:p>
        </p:txBody>
      </p:sp>
      <p:sp>
        <p:nvSpPr>
          <p:cNvPr id="63" name="Shape 61"/>
          <p:cNvSpPr/>
          <p:nvPr/>
        </p:nvSpPr>
        <p:spPr>
          <a:xfrm>
            <a:off x="8074152" y="3977640"/>
            <a:ext cx="3383280" cy="2240280"/>
          </a:xfrm>
          <a:prstGeom prst="roundRect">
            <a:avLst>
              <a:gd name="adj" fmla="val 3265"/>
            </a:avLst>
          </a:prstGeom>
          <a:solidFill>
            <a:srgbClr val="1E293B"/>
          </a:solidFill>
          <a:ln w="12700">
            <a:solidFill>
              <a:srgbClr val="334155"/>
            </a:solidFill>
            <a:prstDash val="solid"/>
          </a:ln>
        </p:spPr>
      </p:sp>
      <p:sp>
        <p:nvSpPr>
          <p:cNvPr id="64" name="Shape 62"/>
          <p:cNvSpPr/>
          <p:nvPr/>
        </p:nvSpPr>
        <p:spPr>
          <a:xfrm>
            <a:off x="8211312" y="4114800"/>
            <a:ext cx="1645920" cy="256032"/>
          </a:xfrm>
          <a:prstGeom prst="roundRect">
            <a:avLst>
              <a:gd name="adj" fmla="val 50000"/>
            </a:avLst>
          </a:prstGeom>
          <a:solidFill>
            <a:srgbClr val="F97316">
              <a:alpha val="15000"/>
            </a:srgbClr>
          </a:solidFill>
          <a:ln w="12700">
            <a:solidFill>
              <a:srgbClr val="F97316"/>
            </a:solidFill>
            <a:prstDash val="solid"/>
          </a:ln>
        </p:spPr>
      </p:sp>
      <p:sp>
        <p:nvSpPr>
          <p:cNvPr id="65" name="Text 63"/>
          <p:cNvSpPr/>
          <p:nvPr/>
        </p:nvSpPr>
        <p:spPr>
          <a:xfrm>
            <a:off x="8211312" y="4114800"/>
            <a:ext cx="1645920" cy="256032"/>
          </a:xfrm>
          <a:prstGeom prst="rect">
            <a:avLst/>
          </a:prstGeom>
          <a:noFill/>
          <a:ln/>
        </p:spPr>
        <p:txBody>
          <a:bodyPr wrap="square" rtlCol="0" anchor="ctr"/>
          <a:lstStyle/>
          <a:p>
            <a:pPr algn="ctr" indent="0" marL="0">
              <a:buNone/>
            </a:pPr>
            <a:r>
              <a:rPr lang="en-US" sz="900" b="1" dirty="0">
                <a:solidFill>
                  <a:srgbClr val="F97316"/>
                </a:solidFill>
              </a:rPr>
              <a:t>DEVOPS &amp; ENVIRONMENT</a:t>
            </a:r>
            <a:endParaRPr lang="en-US" sz="900" dirty="0"/>
          </a:p>
        </p:txBody>
      </p:sp>
      <p:sp>
        <p:nvSpPr>
          <p:cNvPr id="66" name="Text 64"/>
          <p:cNvSpPr/>
          <p:nvPr/>
        </p:nvSpPr>
        <p:spPr>
          <a:xfrm>
            <a:off x="8211312" y="4453128"/>
            <a:ext cx="3108960" cy="201168"/>
          </a:xfrm>
          <a:prstGeom prst="rect">
            <a:avLst/>
          </a:prstGeom>
          <a:noFill/>
          <a:ln/>
        </p:spPr>
        <p:txBody>
          <a:bodyPr wrap="square" rtlCol="0" anchor="ctr"/>
          <a:lstStyle/>
          <a:p>
            <a:pPr indent="0" marL="0">
              <a:buNone/>
            </a:pPr>
            <a:r>
              <a:rPr lang="en-US" sz="1000" b="1" dirty="0">
                <a:solidFill>
                  <a:srgbClr val="F8FAFC"/>
                </a:solidFill>
              </a:rPr>
              <a:t>• Eclipse IDE (Java EE)</a:t>
            </a:r>
            <a:endParaRPr lang="en-US" sz="1000" dirty="0"/>
          </a:p>
        </p:txBody>
      </p:sp>
      <p:sp>
        <p:nvSpPr>
          <p:cNvPr id="67" name="Text 65"/>
          <p:cNvSpPr/>
          <p:nvPr/>
        </p:nvSpPr>
        <p:spPr>
          <a:xfrm>
            <a:off x="8211312" y="4636008"/>
            <a:ext cx="3108960" cy="201168"/>
          </a:xfrm>
          <a:prstGeom prst="rect">
            <a:avLst/>
          </a:prstGeom>
          <a:noFill/>
          <a:ln/>
        </p:spPr>
        <p:txBody>
          <a:bodyPr wrap="square" rtlCol="0" anchor="ctr"/>
          <a:lstStyle/>
          <a:p>
            <a:pPr indent="0" marL="0">
              <a:buNone/>
            </a:pPr>
            <a:r>
              <a:rPr lang="en-US" sz="900" dirty="0">
                <a:solidFill>
                  <a:srgbClr val="94A3B8"/>
                </a:solidFill>
              </a:rPr>
              <a:t>   Dynamic Web Project workspace &amp; server runtime</a:t>
            </a:r>
            <a:endParaRPr lang="en-US" sz="900" dirty="0"/>
          </a:p>
        </p:txBody>
      </p:sp>
      <p:sp>
        <p:nvSpPr>
          <p:cNvPr id="68" name="Text 66"/>
          <p:cNvSpPr/>
          <p:nvPr/>
        </p:nvSpPr>
        <p:spPr>
          <a:xfrm>
            <a:off x="8211312" y="4855464"/>
            <a:ext cx="3108960" cy="201168"/>
          </a:xfrm>
          <a:prstGeom prst="rect">
            <a:avLst/>
          </a:prstGeom>
          <a:noFill/>
          <a:ln/>
        </p:spPr>
        <p:txBody>
          <a:bodyPr wrap="square" rtlCol="0" anchor="ctr"/>
          <a:lstStyle/>
          <a:p>
            <a:pPr indent="0" marL="0">
              <a:buNone/>
            </a:pPr>
            <a:r>
              <a:rPr lang="en-US" sz="1000" b="1" dirty="0">
                <a:solidFill>
                  <a:srgbClr val="F8FAFC"/>
                </a:solidFill>
              </a:rPr>
              <a:t>• Apache Tomcat v9/v10</a:t>
            </a:r>
            <a:endParaRPr lang="en-US" sz="1000" dirty="0"/>
          </a:p>
        </p:txBody>
      </p:sp>
      <p:sp>
        <p:nvSpPr>
          <p:cNvPr id="69" name="Text 67"/>
          <p:cNvSpPr/>
          <p:nvPr/>
        </p:nvSpPr>
        <p:spPr>
          <a:xfrm>
            <a:off x="8211312" y="5038344"/>
            <a:ext cx="3108960" cy="201168"/>
          </a:xfrm>
          <a:prstGeom prst="rect">
            <a:avLst/>
          </a:prstGeom>
          <a:noFill/>
          <a:ln/>
        </p:spPr>
        <p:txBody>
          <a:bodyPr wrap="square" rtlCol="0" anchor="ctr"/>
          <a:lstStyle/>
          <a:p>
            <a:pPr indent="0" marL="0">
              <a:buNone/>
            </a:pPr>
            <a:r>
              <a:rPr lang="en-US" sz="900" dirty="0">
                <a:solidFill>
                  <a:srgbClr val="94A3B8"/>
                </a:solidFill>
              </a:rPr>
              <a:t>   Local &amp; production Servlet deployment container</a:t>
            </a:r>
            <a:endParaRPr lang="en-US" sz="900" dirty="0"/>
          </a:p>
        </p:txBody>
      </p:sp>
      <p:sp>
        <p:nvSpPr>
          <p:cNvPr id="70" name="Text 68"/>
          <p:cNvSpPr/>
          <p:nvPr/>
        </p:nvSpPr>
        <p:spPr>
          <a:xfrm>
            <a:off x="8211312" y="5257800"/>
            <a:ext cx="3108960" cy="201168"/>
          </a:xfrm>
          <a:prstGeom prst="rect">
            <a:avLst/>
          </a:prstGeom>
          <a:noFill/>
          <a:ln/>
        </p:spPr>
        <p:txBody>
          <a:bodyPr wrap="square" rtlCol="0" anchor="ctr"/>
          <a:lstStyle/>
          <a:p>
            <a:pPr indent="0" marL="0">
              <a:buNone/>
            </a:pPr>
            <a:r>
              <a:rPr lang="en-US" sz="1000" b="1" dirty="0">
                <a:solidFill>
                  <a:srgbClr val="F8FAFC"/>
                </a:solidFill>
              </a:rPr>
              <a:t>• Git &amp; GitHub Versioning</a:t>
            </a:r>
            <a:endParaRPr lang="en-US" sz="1000" dirty="0"/>
          </a:p>
        </p:txBody>
      </p:sp>
      <p:sp>
        <p:nvSpPr>
          <p:cNvPr id="71" name="Text 69"/>
          <p:cNvSpPr/>
          <p:nvPr/>
        </p:nvSpPr>
        <p:spPr>
          <a:xfrm>
            <a:off x="8211312" y="5440680"/>
            <a:ext cx="3108960" cy="201168"/>
          </a:xfrm>
          <a:prstGeom prst="rect">
            <a:avLst/>
          </a:prstGeom>
          <a:noFill/>
          <a:ln/>
        </p:spPr>
        <p:txBody>
          <a:bodyPr wrap="square" rtlCol="0" anchor="ctr"/>
          <a:lstStyle/>
          <a:p>
            <a:pPr indent="0" marL="0">
              <a:buNone/>
            </a:pPr>
            <a:r>
              <a:rPr lang="en-US" sz="900" dirty="0">
                <a:solidFill>
                  <a:srgbClr val="94A3B8"/>
                </a:solidFill>
              </a:rPr>
              <a:t>   Branching workflow, release version control</a:t>
            </a:r>
            <a:endParaRPr lang="en-US" sz="900" dirty="0"/>
          </a:p>
        </p:txBody>
      </p:sp>
      <p:sp>
        <p:nvSpPr>
          <p:cNvPr id="72" name="Text 70"/>
          <p:cNvSpPr/>
          <p:nvPr/>
        </p:nvSpPr>
        <p:spPr>
          <a:xfrm>
            <a:off x="8211312" y="5660136"/>
            <a:ext cx="3108960" cy="201168"/>
          </a:xfrm>
          <a:prstGeom prst="rect">
            <a:avLst/>
          </a:prstGeom>
          <a:noFill/>
          <a:ln/>
        </p:spPr>
        <p:txBody>
          <a:bodyPr wrap="square" rtlCol="0" anchor="ctr"/>
          <a:lstStyle/>
          <a:p>
            <a:pPr indent="0" marL="0">
              <a:buNone/>
            </a:pPr>
            <a:r>
              <a:rPr lang="en-US" sz="1000" b="1" dirty="0">
                <a:solidFill>
                  <a:srgbClr val="F8FAFC"/>
                </a:solidFill>
              </a:rPr>
              <a:t>• Cloudflare Tunnel</a:t>
            </a:r>
            <a:endParaRPr lang="en-US" sz="1000" dirty="0"/>
          </a:p>
        </p:txBody>
      </p:sp>
      <p:sp>
        <p:nvSpPr>
          <p:cNvPr id="73" name="Text 71"/>
          <p:cNvSpPr/>
          <p:nvPr/>
        </p:nvSpPr>
        <p:spPr>
          <a:xfrm>
            <a:off x="8211312" y="5843016"/>
            <a:ext cx="3108960" cy="201168"/>
          </a:xfrm>
          <a:prstGeom prst="rect">
            <a:avLst/>
          </a:prstGeom>
          <a:noFill/>
          <a:ln/>
        </p:spPr>
        <p:txBody>
          <a:bodyPr wrap="square" rtlCol="0" anchor="ctr"/>
          <a:lstStyle/>
          <a:p>
            <a:pPr indent="0" marL="0">
              <a:buNone/>
            </a:pPr>
            <a:r>
              <a:rPr lang="en-US" sz="900" dirty="0">
                <a:solidFill>
                  <a:srgbClr val="94A3B8"/>
                </a:solidFill>
              </a:rPr>
              <a:t>   Zero-trust HTTPS tunnel for webhook intake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3</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Project Architecture &amp; Directory Layout</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Visual codebase hierarchy demonstrating strict separation of frontend assets, backend APIs, and database migrations</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731520" y="1463040"/>
            <a:ext cx="7680960" cy="4434840"/>
          </a:xfrm>
          <a:prstGeom prst="roundRect">
            <a:avLst>
              <a:gd name="adj" fmla="val 1649"/>
            </a:avLst>
          </a:prstGeom>
          <a:solidFill>
            <a:srgbClr val="1E293B"/>
          </a:solidFill>
          <a:ln w="12700">
            <a:solidFill>
              <a:srgbClr val="334155"/>
            </a:solidFill>
            <a:prstDash val="solid"/>
          </a:ln>
        </p:spPr>
      </p:sp>
      <p:pic>
        <p:nvPicPr>
          <p:cNvPr id="9" name="Image 0" descr="D:\FoodWala_Eclipse_Project\presentation\screenshots\00_project_structure.png">    </p:cNvPr>
          <p:cNvPicPr>
            <a:picLocks noChangeAspect="1"/>
          </p:cNvPicPr>
          <p:nvPr/>
        </p:nvPicPr>
        <p:blipFill>
          <a:blip r:embed="rId1"/>
          <a:srcRect l="0" r="0" t="0" b="0"/>
          <a:stretch/>
        </p:blipFill>
        <p:spPr>
          <a:xfrm>
            <a:off x="822960" y="1536192"/>
            <a:ext cx="7498080" cy="4288536"/>
          </a:xfrm>
          <a:prstGeom prst="rect">
            <a:avLst/>
          </a:prstGeom>
        </p:spPr>
      </p:pic>
      <p:sp>
        <p:nvSpPr>
          <p:cNvPr id="10" name="Shape 7"/>
          <p:cNvSpPr/>
          <p:nvPr/>
        </p:nvSpPr>
        <p:spPr>
          <a:xfrm>
            <a:off x="8622792" y="1463040"/>
            <a:ext cx="2834640" cy="4434840"/>
          </a:xfrm>
          <a:prstGeom prst="roundRect">
            <a:avLst>
              <a:gd name="adj" fmla="val 2581"/>
            </a:avLst>
          </a:prstGeom>
          <a:solidFill>
            <a:srgbClr val="1E293B"/>
          </a:solidFill>
          <a:ln w="12700">
            <a:solidFill>
              <a:srgbClr val="334155"/>
            </a:solidFill>
            <a:prstDash val="solid"/>
          </a:ln>
        </p:spPr>
      </p:sp>
      <p:sp>
        <p:nvSpPr>
          <p:cNvPr id="11" name="Text 8"/>
          <p:cNvSpPr/>
          <p:nvPr/>
        </p:nvSpPr>
        <p:spPr>
          <a:xfrm>
            <a:off x="8805672" y="1645920"/>
            <a:ext cx="2468880" cy="320040"/>
          </a:xfrm>
          <a:prstGeom prst="rect">
            <a:avLst/>
          </a:prstGeom>
          <a:noFill/>
          <a:ln/>
        </p:spPr>
        <p:txBody>
          <a:bodyPr wrap="square" rtlCol="0" anchor="ctr"/>
          <a:lstStyle/>
          <a:p>
            <a:pPr indent="0" marL="0">
              <a:buNone/>
            </a:pPr>
            <a:r>
              <a:rPr lang="en-US" sz="1400" b="1" dirty="0">
                <a:solidFill>
                  <a:srgbClr val="EF4444"/>
                </a:solidFill>
              </a:rPr>
              <a:t>Layered Architecture</a:t>
            </a:r>
            <a:endParaRPr lang="en-US" sz="1400" dirty="0"/>
          </a:p>
        </p:txBody>
      </p:sp>
      <p:sp>
        <p:nvSpPr>
          <p:cNvPr id="12" name="Text 9"/>
          <p:cNvSpPr/>
          <p:nvPr/>
        </p:nvSpPr>
        <p:spPr>
          <a:xfrm>
            <a:off x="8805672" y="2057400"/>
            <a:ext cx="2468880" cy="228600"/>
          </a:xfrm>
          <a:prstGeom prst="rect">
            <a:avLst/>
          </a:prstGeom>
          <a:noFill/>
          <a:ln/>
        </p:spPr>
        <p:txBody>
          <a:bodyPr wrap="square" rtlCol="0" anchor="ctr"/>
          <a:lstStyle/>
          <a:p>
            <a:pPr indent="0" marL="0">
              <a:buNone/>
            </a:pPr>
            <a:r>
              <a:rPr lang="en-US" sz="1100" b="1" dirty="0">
                <a:solidFill>
                  <a:srgbClr val="F8FAFC"/>
                </a:solidFill>
              </a:rPr>
              <a:t>Frontend &amp; JSP Layer</a:t>
            </a:r>
            <a:endParaRPr lang="en-US" sz="1100" dirty="0"/>
          </a:p>
        </p:txBody>
      </p:sp>
      <p:sp>
        <p:nvSpPr>
          <p:cNvPr id="13" name="Text 10"/>
          <p:cNvSpPr/>
          <p:nvPr/>
        </p:nvSpPr>
        <p:spPr>
          <a:xfrm>
            <a:off x="8805672" y="2276856"/>
            <a:ext cx="2468880" cy="658368"/>
          </a:xfrm>
          <a:prstGeom prst="rect">
            <a:avLst/>
          </a:prstGeom>
          <a:noFill/>
          <a:ln/>
        </p:spPr>
        <p:txBody>
          <a:bodyPr wrap="square" rtlCol="0" anchor="ctr"/>
          <a:lstStyle/>
          <a:p>
            <a:pPr indent="0" marL="0">
              <a:buNone/>
            </a:pPr>
            <a:r>
              <a:rPr lang="en-US" sz="950" dirty="0">
                <a:solidFill>
                  <a:srgbClr val="94A3B8"/>
                </a:solidFill>
              </a:rPr>
              <a:t>Server-rendered JSP templates, responsive Bootstrap 5.3 stylesheets, and client scripts (app.js, cart.js).</a:t>
            </a:r>
            <a:endParaRPr lang="en-US" sz="950" dirty="0"/>
          </a:p>
        </p:txBody>
      </p:sp>
      <p:sp>
        <p:nvSpPr>
          <p:cNvPr id="14" name="Text 11"/>
          <p:cNvSpPr/>
          <p:nvPr/>
        </p:nvSpPr>
        <p:spPr>
          <a:xfrm>
            <a:off x="8805672" y="3017520"/>
            <a:ext cx="2468880" cy="228600"/>
          </a:xfrm>
          <a:prstGeom prst="rect">
            <a:avLst/>
          </a:prstGeom>
          <a:noFill/>
          <a:ln/>
        </p:spPr>
        <p:txBody>
          <a:bodyPr wrap="square" rtlCol="0" anchor="ctr"/>
          <a:lstStyle/>
          <a:p>
            <a:pPr indent="0" marL="0">
              <a:buNone/>
            </a:pPr>
            <a:r>
              <a:rPr lang="en-US" sz="1100" b="1" dirty="0">
                <a:solidFill>
                  <a:srgbClr val="F8FAFC"/>
                </a:solidFill>
              </a:rPr>
              <a:t>Java Servlets (Controllers)</a:t>
            </a:r>
            <a:endParaRPr lang="en-US" sz="1100" dirty="0"/>
          </a:p>
        </p:txBody>
      </p:sp>
      <p:sp>
        <p:nvSpPr>
          <p:cNvPr id="15" name="Text 12"/>
          <p:cNvSpPr/>
          <p:nvPr/>
        </p:nvSpPr>
        <p:spPr>
          <a:xfrm>
            <a:off x="8805672" y="3236976"/>
            <a:ext cx="2468880" cy="658368"/>
          </a:xfrm>
          <a:prstGeom prst="rect">
            <a:avLst/>
          </a:prstGeom>
          <a:noFill/>
          <a:ln/>
        </p:spPr>
        <p:txBody>
          <a:bodyPr wrap="square" rtlCol="0" anchor="ctr"/>
          <a:lstStyle/>
          <a:p>
            <a:pPr indent="0" marL="0">
              <a:buNone/>
            </a:pPr>
            <a:r>
              <a:rPr lang="en-US" sz="950" dirty="0">
                <a:solidFill>
                  <a:srgbClr val="94A3B8"/>
                </a:solidFill>
              </a:rPr>
              <a:t>com.tap.controller Servlets handling HTTP request routing, session lifecycle, and MVC dispatching.</a:t>
            </a:r>
            <a:endParaRPr lang="en-US" sz="950" dirty="0"/>
          </a:p>
        </p:txBody>
      </p:sp>
      <p:sp>
        <p:nvSpPr>
          <p:cNvPr id="16" name="Text 13"/>
          <p:cNvSpPr/>
          <p:nvPr/>
        </p:nvSpPr>
        <p:spPr>
          <a:xfrm>
            <a:off x="8805672" y="3977640"/>
            <a:ext cx="2468880" cy="228600"/>
          </a:xfrm>
          <a:prstGeom prst="rect">
            <a:avLst/>
          </a:prstGeom>
          <a:noFill/>
          <a:ln/>
        </p:spPr>
        <p:txBody>
          <a:bodyPr wrap="square" rtlCol="0" anchor="ctr"/>
          <a:lstStyle/>
          <a:p>
            <a:pPr indent="0" marL="0">
              <a:buNone/>
            </a:pPr>
            <a:r>
              <a:rPr lang="en-US" sz="1100" b="1" dirty="0">
                <a:solidFill>
                  <a:srgbClr val="F8FAFC"/>
                </a:solidFill>
              </a:rPr>
              <a:t>DAO &amp; Service Layer</a:t>
            </a:r>
            <a:endParaRPr lang="en-US" sz="1100" dirty="0"/>
          </a:p>
        </p:txBody>
      </p:sp>
      <p:sp>
        <p:nvSpPr>
          <p:cNvPr id="17" name="Text 14"/>
          <p:cNvSpPr/>
          <p:nvPr/>
        </p:nvSpPr>
        <p:spPr>
          <a:xfrm>
            <a:off x="8805672" y="4197096"/>
            <a:ext cx="2468880" cy="658368"/>
          </a:xfrm>
          <a:prstGeom prst="rect">
            <a:avLst/>
          </a:prstGeom>
          <a:noFill/>
          <a:ln/>
        </p:spPr>
        <p:txBody>
          <a:bodyPr wrap="square" rtlCol="0" anchor="ctr"/>
          <a:lstStyle/>
          <a:p>
            <a:pPr indent="0" marL="0">
              <a:buNone/>
            </a:pPr>
            <a:r>
              <a:rPr lang="en-US" sz="950" dirty="0">
                <a:solidFill>
                  <a:srgbClr val="94A3B8"/>
                </a:solidFill>
              </a:rPr>
              <a:t>com.tap.dao &amp; daoimpl encapsulating parameterized SQL queries with JDBC connection pooling.</a:t>
            </a:r>
            <a:endParaRPr lang="en-US" sz="950" dirty="0"/>
          </a:p>
        </p:txBody>
      </p:sp>
      <p:sp>
        <p:nvSpPr>
          <p:cNvPr id="18" name="Text 15"/>
          <p:cNvSpPr/>
          <p:nvPr/>
        </p:nvSpPr>
        <p:spPr>
          <a:xfrm>
            <a:off x="8805672" y="4937760"/>
            <a:ext cx="2468880" cy="228600"/>
          </a:xfrm>
          <a:prstGeom prst="rect">
            <a:avLst/>
          </a:prstGeom>
          <a:noFill/>
          <a:ln/>
        </p:spPr>
        <p:txBody>
          <a:bodyPr wrap="square" rtlCol="0" anchor="ctr"/>
          <a:lstStyle/>
          <a:p>
            <a:pPr indent="0" marL="0">
              <a:buNone/>
            </a:pPr>
            <a:r>
              <a:rPr lang="en-US" sz="1100" b="1" dirty="0">
                <a:solidFill>
                  <a:srgbClr val="F8FAFC"/>
                </a:solidFill>
              </a:rPr>
              <a:t>Database &amp; Transactions</a:t>
            </a:r>
            <a:endParaRPr lang="en-US" sz="1100" dirty="0"/>
          </a:p>
        </p:txBody>
      </p:sp>
      <p:sp>
        <p:nvSpPr>
          <p:cNvPr id="19" name="Text 16"/>
          <p:cNvSpPr/>
          <p:nvPr/>
        </p:nvSpPr>
        <p:spPr>
          <a:xfrm>
            <a:off x="8805672" y="5157216"/>
            <a:ext cx="2468880" cy="658368"/>
          </a:xfrm>
          <a:prstGeom prst="rect">
            <a:avLst/>
          </a:prstGeom>
          <a:noFill/>
          <a:ln/>
        </p:spPr>
        <p:txBody>
          <a:bodyPr wrap="square" rtlCol="0" anchor="ctr"/>
          <a:lstStyle/>
          <a:p>
            <a:pPr indent="0" marL="0">
              <a:buNone/>
            </a:pPr>
            <a:r>
              <a:rPr lang="en-US" sz="950" dirty="0">
                <a:solidFill>
                  <a:srgbClr val="94A3B8"/>
                </a:solidFill>
              </a:rPr>
              <a:t>MySQL relational schema with 22 normalized tables and atomic InnoDB ACID transactions.</a:t>
            </a:r>
            <a:endParaRPr lang="en-US" sz="950" dirty="0"/>
          </a:p>
        </p:txBody>
      </p:sp>
      <p:sp>
        <p:nvSpPr>
          <p:cNvPr id="20" name="Text 17"/>
          <p:cNvSpPr/>
          <p:nvPr/>
        </p:nvSpPr>
        <p:spPr>
          <a:xfrm>
            <a:off x="731520" y="6080760"/>
            <a:ext cx="10725912" cy="274320"/>
          </a:xfrm>
          <a:prstGeom prst="rect">
            <a:avLst/>
          </a:prstGeom>
          <a:noFill/>
          <a:ln/>
        </p:spPr>
        <p:txBody>
          <a:bodyPr wrap="square" rtlCol="0" anchor="ctr"/>
          <a:lstStyle/>
          <a:p>
            <a:pPr algn="ctr" indent="0" marL="0">
              <a:buNone/>
            </a:pPr>
            <a:r>
              <a:rPr lang="en-US" sz="1000" i="1" dirty="0">
                <a:solidFill>
                  <a:srgbClr val="F59E0B"/>
                </a:solidFill>
              </a:rPr>
              <a:t>Caption: Architecture strictly decouples Java Servlets, Business Services, and JDBC DAOs from JSP &amp; client views.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4</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Database Architecture &amp; ER Diagram</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Normalized relational database schema (MySQL 9.7) featuring 22 tables supporting ACID-compliant order transactions</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diagrams\foodwala-er-diagram.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1000" b="1" dirty="0">
                <a:solidFill>
                  <a:srgbClr val="38BDF8"/>
                </a:solidFill>
              </a:rPr>
              <a:t>Key Relationships: user (1:N) orders • restaurant (1:N) menu • orders (1:N) order_item • orders (1:1) payment • user (1:N) whatsapp_conversations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5.1</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Home Page — Bengaluru Discovery &amp; Hero Showcase</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Hero banner with video showcase, dynamic Bengaluru cuisine category carousels, instant search bar, and top-rated restaurants.</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01_home_page.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http://localhost:5000/home_page.html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5.2</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Login Screen — Role-Based Authentication</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Multi-role authentication gateway verifying Customer, Restaurant Manager, and Delivery Partner credentials with Argon2id password verification.</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02_login_page.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http://localhost:5000/login_page.html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5.3</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Registration Screen — Customer Onboarding &amp; Fleet Toggle</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Dual onboarding form supporting Customer sign-up and direct Delivery Partner fleet onboarding toggle with vehicle &amp; license validation.</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03_register_page.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http://localhost:5000/register_page.html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5.4</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Account Security — Password Reset OTP Verification Email</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Automated cryptographic password reset email delivering a 6-digit OTP (724132) with 15-minute validity, secure token expiry, and account protection.</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731520" y="1417320"/>
            <a:ext cx="4206240" cy="4590288"/>
          </a:xfrm>
          <a:prstGeom prst="roundRect">
            <a:avLst>
              <a:gd name="adj" fmla="val 1739"/>
            </a:avLst>
          </a:prstGeom>
          <a:solidFill>
            <a:srgbClr val="1E293B"/>
          </a:solidFill>
          <a:ln w="12700">
            <a:solidFill>
              <a:srgbClr val="334155"/>
            </a:solidFill>
            <a:prstDash val="solid"/>
          </a:ln>
        </p:spPr>
      </p:sp>
      <p:pic>
        <p:nvPicPr>
          <p:cNvPr id="9" name="Image 0" descr="D:\FoodWala_Eclipse_Project\presentation\screenshots\21_email_forgot_password.png">    </p:cNvPr>
          <p:cNvPicPr>
            <a:picLocks noChangeAspect="1"/>
          </p:cNvPicPr>
          <p:nvPr/>
        </p:nvPicPr>
        <p:blipFill>
          <a:blip r:embed="rId1"/>
          <a:srcRect l="0" r="0" t="0" b="0"/>
          <a:stretch/>
        </p:blipFill>
        <p:spPr>
          <a:xfrm>
            <a:off x="841248" y="1508760"/>
            <a:ext cx="3986784" cy="4407408"/>
          </a:xfrm>
          <a:prstGeom prst="rect">
            <a:avLst/>
          </a:prstGeom>
        </p:spPr>
      </p:pic>
      <p:sp>
        <p:nvSpPr>
          <p:cNvPr id="10" name="Shape 7"/>
          <p:cNvSpPr/>
          <p:nvPr/>
        </p:nvSpPr>
        <p:spPr>
          <a:xfrm>
            <a:off x="5166360" y="1417320"/>
            <a:ext cx="6291072" cy="4590288"/>
          </a:xfrm>
          <a:prstGeom prst="roundRect">
            <a:avLst>
              <a:gd name="adj" fmla="val 1594"/>
            </a:avLst>
          </a:prstGeom>
          <a:solidFill>
            <a:srgbClr val="1E293B"/>
          </a:solidFill>
          <a:ln w="12700">
            <a:solidFill>
              <a:srgbClr val="334155"/>
            </a:solidFill>
            <a:prstDash val="solid"/>
          </a:ln>
        </p:spPr>
      </p:sp>
      <p:sp>
        <p:nvSpPr>
          <p:cNvPr id="11" name="Shape 8"/>
          <p:cNvSpPr/>
          <p:nvPr/>
        </p:nvSpPr>
        <p:spPr>
          <a:xfrm>
            <a:off x="5394960" y="1618488"/>
            <a:ext cx="2926080" cy="256032"/>
          </a:xfrm>
          <a:prstGeom prst="roundRect">
            <a:avLst>
              <a:gd name="adj" fmla="val 50000"/>
            </a:avLst>
          </a:prstGeom>
          <a:solidFill>
            <a:srgbClr val="EF4444">
              <a:alpha val="15000"/>
            </a:srgbClr>
          </a:solidFill>
          <a:ln w="12700">
            <a:solidFill>
              <a:srgbClr val="EF4444"/>
            </a:solidFill>
            <a:prstDash val="solid"/>
          </a:ln>
        </p:spPr>
      </p:sp>
      <p:sp>
        <p:nvSpPr>
          <p:cNvPr id="12" name="Text 9"/>
          <p:cNvSpPr/>
          <p:nvPr/>
        </p:nvSpPr>
        <p:spPr>
          <a:xfrm>
            <a:off x="5394960" y="1618488"/>
            <a:ext cx="2926080" cy="256032"/>
          </a:xfrm>
          <a:prstGeom prst="rect">
            <a:avLst/>
          </a:prstGeom>
          <a:noFill/>
          <a:ln/>
        </p:spPr>
        <p:txBody>
          <a:bodyPr wrap="square" rtlCol="0" anchor="ctr"/>
          <a:lstStyle/>
          <a:p>
            <a:pPr algn="ctr" indent="0" marL="0">
              <a:buNone/>
            </a:pPr>
            <a:r>
              <a:rPr lang="en-US" sz="900" b="1" dirty="0">
                <a:solidFill>
                  <a:srgbClr val="EF4444"/>
                </a:solidFill>
              </a:rPr>
              <a:t>ACCOUNT RECOVERY &amp; AUTH SECURITY</a:t>
            </a:r>
            <a:endParaRPr lang="en-US" sz="900" dirty="0"/>
          </a:p>
        </p:txBody>
      </p:sp>
      <p:sp>
        <p:nvSpPr>
          <p:cNvPr id="13" name="Text 10"/>
          <p:cNvSpPr/>
          <p:nvPr/>
        </p:nvSpPr>
        <p:spPr>
          <a:xfrm>
            <a:off x="5394960" y="1947672"/>
            <a:ext cx="5833872" cy="320040"/>
          </a:xfrm>
          <a:prstGeom prst="rect">
            <a:avLst/>
          </a:prstGeom>
          <a:noFill/>
          <a:ln/>
        </p:spPr>
        <p:txBody>
          <a:bodyPr wrap="square" rtlCol="0" anchor="ctr"/>
          <a:lstStyle/>
          <a:p>
            <a:pPr indent="0" marL="0">
              <a:buNone/>
            </a:pPr>
            <a:r>
              <a:rPr lang="en-US" sz="1500" b="1" dirty="0">
                <a:solidFill>
                  <a:srgbClr val="F8FAFC"/>
                </a:solidFill>
              </a:rPr>
              <a:t>Automated Security Verification Email</a:t>
            </a:r>
            <a:endParaRPr lang="en-US" sz="1500" dirty="0"/>
          </a:p>
        </p:txBody>
      </p:sp>
      <p:sp>
        <p:nvSpPr>
          <p:cNvPr id="14" name="Text 11"/>
          <p:cNvSpPr/>
          <p:nvPr/>
        </p:nvSpPr>
        <p:spPr>
          <a:xfrm>
            <a:off x="5394960" y="2286000"/>
            <a:ext cx="5833872" cy="320040"/>
          </a:xfrm>
          <a:prstGeom prst="rect">
            <a:avLst/>
          </a:prstGeom>
          <a:noFill/>
          <a:ln/>
        </p:spPr>
        <p:txBody>
          <a:bodyPr wrap="square" rtlCol="0" anchor="ctr"/>
          <a:lstStyle/>
          <a:p>
            <a:pPr indent="0" marL="0">
              <a:buNone/>
            </a:pPr>
            <a:r>
              <a:rPr lang="en-US" sz="1050" dirty="0">
                <a:solidFill>
                  <a:srgbClr val="94A3B8"/>
                </a:solidFill>
              </a:rPr>
              <a:t>Instant OTP dispatch via EmailJS REST Gateway triggered upon password recovery request.</a:t>
            </a:r>
            <a:endParaRPr lang="en-US" sz="1050" dirty="0"/>
          </a:p>
        </p:txBody>
      </p:sp>
      <p:sp>
        <p:nvSpPr>
          <p:cNvPr id="15" name="Shape 12"/>
          <p:cNvSpPr/>
          <p:nvPr/>
        </p:nvSpPr>
        <p:spPr>
          <a:xfrm>
            <a:off x="5394960" y="2697480"/>
            <a:ext cx="5833872" cy="347472"/>
          </a:xfrm>
          <a:prstGeom prst="roundRect">
            <a:avLst>
              <a:gd name="adj" fmla="val 13158"/>
            </a:avLst>
          </a:prstGeom>
          <a:solidFill>
            <a:srgbClr val="0F172A"/>
          </a:solidFill>
          <a:ln w="12700">
            <a:solidFill>
              <a:srgbClr val="334155"/>
            </a:solidFill>
            <a:prstDash val="solid"/>
          </a:ln>
        </p:spPr>
      </p:sp>
      <p:sp>
        <p:nvSpPr>
          <p:cNvPr id="16" name="Text 13"/>
          <p:cNvSpPr/>
          <p:nvPr/>
        </p:nvSpPr>
        <p:spPr>
          <a:xfrm>
            <a:off x="5486400" y="2743200"/>
            <a:ext cx="1463040" cy="256032"/>
          </a:xfrm>
          <a:prstGeom prst="rect">
            <a:avLst/>
          </a:prstGeom>
          <a:noFill/>
          <a:ln/>
        </p:spPr>
        <p:txBody>
          <a:bodyPr wrap="square" rtlCol="0" anchor="ctr"/>
          <a:lstStyle/>
          <a:p>
            <a:pPr indent="0" marL="0">
              <a:buNone/>
            </a:pPr>
            <a:r>
              <a:rPr lang="en-US" sz="900" b="1" dirty="0">
                <a:solidFill>
                  <a:srgbClr val="38BDF8"/>
                </a:solidFill>
              </a:rPr>
              <a:t>Subject</a:t>
            </a:r>
            <a:endParaRPr lang="en-US" sz="900" dirty="0"/>
          </a:p>
        </p:txBody>
      </p:sp>
      <p:sp>
        <p:nvSpPr>
          <p:cNvPr id="17" name="Text 14"/>
          <p:cNvSpPr/>
          <p:nvPr/>
        </p:nvSpPr>
        <p:spPr>
          <a:xfrm>
            <a:off x="7040880" y="2743200"/>
            <a:ext cx="4142232" cy="256032"/>
          </a:xfrm>
          <a:prstGeom prst="rect">
            <a:avLst/>
          </a:prstGeom>
          <a:noFill/>
          <a:ln/>
        </p:spPr>
        <p:txBody>
          <a:bodyPr wrap="square" rtlCol="0" anchor="ctr"/>
          <a:lstStyle/>
          <a:p>
            <a:pPr indent="0" marL="0">
              <a:buNone/>
            </a:pPr>
            <a:r>
              <a:rPr lang="en-US" sz="950" dirty="0">
                <a:solidFill>
                  <a:srgbClr val="F8FAFC"/>
                </a:solidFill>
              </a:rPr>
              <a:t>FoodWala Receipt for Order VERIFY-724132 — FoodWala Account Security</a:t>
            </a:r>
            <a:endParaRPr lang="en-US" sz="950" dirty="0"/>
          </a:p>
        </p:txBody>
      </p:sp>
      <p:sp>
        <p:nvSpPr>
          <p:cNvPr id="18" name="Shape 15"/>
          <p:cNvSpPr/>
          <p:nvPr/>
        </p:nvSpPr>
        <p:spPr>
          <a:xfrm>
            <a:off x="5394960" y="3118104"/>
            <a:ext cx="5833872" cy="347472"/>
          </a:xfrm>
          <a:prstGeom prst="roundRect">
            <a:avLst>
              <a:gd name="adj" fmla="val 13158"/>
            </a:avLst>
          </a:prstGeom>
          <a:solidFill>
            <a:srgbClr val="0F172A"/>
          </a:solidFill>
          <a:ln w="12700">
            <a:solidFill>
              <a:srgbClr val="334155"/>
            </a:solidFill>
            <a:prstDash val="solid"/>
          </a:ln>
        </p:spPr>
      </p:sp>
      <p:sp>
        <p:nvSpPr>
          <p:cNvPr id="19" name="Text 16"/>
          <p:cNvSpPr/>
          <p:nvPr/>
        </p:nvSpPr>
        <p:spPr>
          <a:xfrm>
            <a:off x="5486400" y="3163824"/>
            <a:ext cx="1463040" cy="256032"/>
          </a:xfrm>
          <a:prstGeom prst="rect">
            <a:avLst/>
          </a:prstGeom>
          <a:noFill/>
          <a:ln/>
        </p:spPr>
        <p:txBody>
          <a:bodyPr wrap="square" rtlCol="0" anchor="ctr"/>
          <a:lstStyle/>
          <a:p>
            <a:pPr indent="0" marL="0">
              <a:buNone/>
            </a:pPr>
            <a:r>
              <a:rPr lang="en-US" sz="900" b="1" dirty="0">
                <a:solidFill>
                  <a:srgbClr val="38BDF8"/>
                </a:solidFill>
              </a:rPr>
              <a:t>Recipient</a:t>
            </a:r>
            <a:endParaRPr lang="en-US" sz="900" dirty="0"/>
          </a:p>
        </p:txBody>
      </p:sp>
      <p:sp>
        <p:nvSpPr>
          <p:cNvPr id="20" name="Text 17"/>
          <p:cNvSpPr/>
          <p:nvPr/>
        </p:nvSpPr>
        <p:spPr>
          <a:xfrm>
            <a:off x="7040880" y="3163824"/>
            <a:ext cx="4142232" cy="256032"/>
          </a:xfrm>
          <a:prstGeom prst="rect">
            <a:avLst/>
          </a:prstGeom>
          <a:noFill/>
          <a:ln/>
        </p:spPr>
        <p:txBody>
          <a:bodyPr wrap="square" rtlCol="0" anchor="ctr"/>
          <a:lstStyle/>
          <a:p>
            <a:pPr indent="0" marL="0">
              <a:buNone/>
            </a:pPr>
            <a:r>
              <a:rPr lang="en-US" sz="950" dirty="0">
                <a:solidFill>
                  <a:srgbClr val="F8FAFC"/>
                </a:solidFill>
              </a:rPr>
              <a:t>Registered User Email (Direct Mailbox Delivery)</a:t>
            </a:r>
            <a:endParaRPr lang="en-US" sz="950" dirty="0"/>
          </a:p>
        </p:txBody>
      </p:sp>
      <p:sp>
        <p:nvSpPr>
          <p:cNvPr id="21" name="Shape 18"/>
          <p:cNvSpPr/>
          <p:nvPr/>
        </p:nvSpPr>
        <p:spPr>
          <a:xfrm>
            <a:off x="5394960" y="3538728"/>
            <a:ext cx="5833872" cy="347472"/>
          </a:xfrm>
          <a:prstGeom prst="roundRect">
            <a:avLst>
              <a:gd name="adj" fmla="val 13158"/>
            </a:avLst>
          </a:prstGeom>
          <a:solidFill>
            <a:srgbClr val="0F172A"/>
          </a:solidFill>
          <a:ln w="12700">
            <a:solidFill>
              <a:srgbClr val="334155"/>
            </a:solidFill>
            <a:prstDash val="solid"/>
          </a:ln>
        </p:spPr>
      </p:sp>
      <p:sp>
        <p:nvSpPr>
          <p:cNvPr id="22" name="Text 19"/>
          <p:cNvSpPr/>
          <p:nvPr/>
        </p:nvSpPr>
        <p:spPr>
          <a:xfrm>
            <a:off x="5486400" y="3584448"/>
            <a:ext cx="1463040" cy="256032"/>
          </a:xfrm>
          <a:prstGeom prst="rect">
            <a:avLst/>
          </a:prstGeom>
          <a:noFill/>
          <a:ln/>
        </p:spPr>
        <p:txBody>
          <a:bodyPr wrap="square" rtlCol="0" anchor="ctr"/>
          <a:lstStyle/>
          <a:p>
            <a:pPr indent="0" marL="0">
              <a:buNone/>
            </a:pPr>
            <a:r>
              <a:rPr lang="en-US" sz="900" b="1" dirty="0">
                <a:solidFill>
                  <a:srgbClr val="38BDF8"/>
                </a:solidFill>
              </a:rPr>
              <a:t>Verification OTP</a:t>
            </a:r>
            <a:endParaRPr lang="en-US" sz="900" dirty="0"/>
          </a:p>
        </p:txBody>
      </p:sp>
      <p:sp>
        <p:nvSpPr>
          <p:cNvPr id="23" name="Text 20"/>
          <p:cNvSpPr/>
          <p:nvPr/>
        </p:nvSpPr>
        <p:spPr>
          <a:xfrm>
            <a:off x="7040880" y="3584448"/>
            <a:ext cx="4142232" cy="256032"/>
          </a:xfrm>
          <a:prstGeom prst="rect">
            <a:avLst/>
          </a:prstGeom>
          <a:noFill/>
          <a:ln/>
        </p:spPr>
        <p:txBody>
          <a:bodyPr wrap="square" rtlCol="0" anchor="ctr"/>
          <a:lstStyle/>
          <a:p>
            <a:pPr indent="0" marL="0">
              <a:buNone/>
            </a:pPr>
            <a:r>
              <a:rPr lang="en-US" sz="950" dirty="0">
                <a:solidFill>
                  <a:srgbClr val="F8FAFC"/>
                </a:solidFill>
              </a:rPr>
              <a:t>724132 (Strict 15-Minute Expiry Window)</a:t>
            </a:r>
            <a:endParaRPr lang="en-US" sz="950" dirty="0"/>
          </a:p>
        </p:txBody>
      </p:sp>
      <p:sp>
        <p:nvSpPr>
          <p:cNvPr id="24" name="Shape 21"/>
          <p:cNvSpPr/>
          <p:nvPr/>
        </p:nvSpPr>
        <p:spPr>
          <a:xfrm>
            <a:off x="5394960" y="3959352"/>
            <a:ext cx="5833872" cy="347472"/>
          </a:xfrm>
          <a:prstGeom prst="roundRect">
            <a:avLst>
              <a:gd name="adj" fmla="val 13158"/>
            </a:avLst>
          </a:prstGeom>
          <a:solidFill>
            <a:srgbClr val="0F172A"/>
          </a:solidFill>
          <a:ln w="12700">
            <a:solidFill>
              <a:srgbClr val="334155"/>
            </a:solidFill>
            <a:prstDash val="solid"/>
          </a:ln>
        </p:spPr>
      </p:sp>
      <p:sp>
        <p:nvSpPr>
          <p:cNvPr id="25" name="Text 22"/>
          <p:cNvSpPr/>
          <p:nvPr/>
        </p:nvSpPr>
        <p:spPr>
          <a:xfrm>
            <a:off x="5486400" y="4005072"/>
            <a:ext cx="1463040" cy="256032"/>
          </a:xfrm>
          <a:prstGeom prst="rect">
            <a:avLst/>
          </a:prstGeom>
          <a:noFill/>
          <a:ln/>
        </p:spPr>
        <p:txBody>
          <a:bodyPr wrap="square" rtlCol="0" anchor="ctr"/>
          <a:lstStyle/>
          <a:p>
            <a:pPr indent="0" marL="0">
              <a:buNone/>
            </a:pPr>
            <a:r>
              <a:rPr lang="en-US" sz="900" b="1" dirty="0">
                <a:solidFill>
                  <a:srgbClr val="38BDF8"/>
                </a:solidFill>
              </a:rPr>
              <a:t>Event Trigger</a:t>
            </a:r>
            <a:endParaRPr lang="en-US" sz="900" dirty="0"/>
          </a:p>
        </p:txBody>
      </p:sp>
      <p:sp>
        <p:nvSpPr>
          <p:cNvPr id="26" name="Text 23"/>
          <p:cNvSpPr/>
          <p:nvPr/>
        </p:nvSpPr>
        <p:spPr>
          <a:xfrm>
            <a:off x="7040880" y="4005072"/>
            <a:ext cx="4142232" cy="256032"/>
          </a:xfrm>
          <a:prstGeom prst="rect">
            <a:avLst/>
          </a:prstGeom>
          <a:noFill/>
          <a:ln/>
        </p:spPr>
        <p:txBody>
          <a:bodyPr wrap="square" rtlCol="0" anchor="ctr"/>
          <a:lstStyle/>
          <a:p>
            <a:pPr indent="0" marL="0">
              <a:buNone/>
            </a:pPr>
            <a:r>
              <a:rPr lang="en-US" sz="950" dirty="0">
                <a:solidFill>
                  <a:srgbClr val="F8FAFC"/>
                </a:solidFill>
              </a:rPr>
              <a:t>POST /api/auth/forgot-password</a:t>
            </a:r>
            <a:endParaRPr lang="en-US" sz="950" dirty="0"/>
          </a:p>
        </p:txBody>
      </p:sp>
      <p:sp>
        <p:nvSpPr>
          <p:cNvPr id="27" name="Text 24"/>
          <p:cNvSpPr/>
          <p:nvPr/>
        </p:nvSpPr>
        <p:spPr>
          <a:xfrm>
            <a:off x="5394960" y="4471416"/>
            <a:ext cx="5833872" cy="228600"/>
          </a:xfrm>
          <a:prstGeom prst="rect">
            <a:avLst/>
          </a:prstGeom>
          <a:noFill/>
          <a:ln/>
        </p:spPr>
        <p:txBody>
          <a:bodyPr wrap="square" rtlCol="0" anchor="ctr"/>
          <a:lstStyle/>
          <a:p>
            <a:pPr indent="0" marL="0">
              <a:buNone/>
            </a:pPr>
            <a:r>
              <a:rPr lang="en-US" sz="1100" b="1" dirty="0">
                <a:solidFill>
                  <a:srgbClr val="EF4444"/>
                </a:solidFill>
              </a:rPr>
              <a:t>Key Architectural Highlights:</a:t>
            </a:r>
            <a:endParaRPr lang="en-US" sz="1100" dirty="0"/>
          </a:p>
        </p:txBody>
      </p:sp>
      <p:sp>
        <p:nvSpPr>
          <p:cNvPr id="28" name="Text 25"/>
          <p:cNvSpPr/>
          <p:nvPr/>
        </p:nvSpPr>
        <p:spPr>
          <a:xfrm>
            <a:off x="5394960" y="4709160"/>
            <a:ext cx="5833872" cy="201168"/>
          </a:xfrm>
          <a:prstGeom prst="rect">
            <a:avLst/>
          </a:prstGeom>
          <a:noFill/>
          <a:ln/>
        </p:spPr>
        <p:txBody>
          <a:bodyPr wrap="square" rtlCol="0" anchor="ctr"/>
          <a:lstStyle/>
          <a:p>
            <a:pPr indent="0" marL="0">
              <a:buNone/>
            </a:pPr>
            <a:r>
              <a:rPr lang="en-US" sz="950" dirty="0">
                <a:solidFill>
                  <a:srgbClr val="94A3B8"/>
                </a:solidFill>
              </a:rPr>
              <a:t>✓  Argon2id Memory-Hard Password Re-hashing on submit</a:t>
            </a:r>
            <a:endParaRPr lang="en-US" sz="950" dirty="0"/>
          </a:p>
        </p:txBody>
      </p:sp>
      <p:sp>
        <p:nvSpPr>
          <p:cNvPr id="29" name="Text 26"/>
          <p:cNvSpPr/>
          <p:nvPr/>
        </p:nvSpPr>
        <p:spPr>
          <a:xfrm>
            <a:off x="5394960" y="4928616"/>
            <a:ext cx="5833872" cy="201168"/>
          </a:xfrm>
          <a:prstGeom prst="rect">
            <a:avLst/>
          </a:prstGeom>
          <a:noFill/>
          <a:ln/>
        </p:spPr>
        <p:txBody>
          <a:bodyPr wrap="square" rtlCol="0" anchor="ctr"/>
          <a:lstStyle/>
          <a:p>
            <a:pPr indent="0" marL="0">
              <a:buNone/>
            </a:pPr>
            <a:r>
              <a:rPr lang="en-US" sz="950" dirty="0">
                <a:solidFill>
                  <a:srgbClr val="94A3B8"/>
                </a:solidFill>
              </a:rPr>
              <a:t>✓  Transient In-Memory OTP Store + MySQL reset_token Sync</a:t>
            </a:r>
            <a:endParaRPr lang="en-US" sz="950" dirty="0"/>
          </a:p>
        </p:txBody>
      </p:sp>
      <p:sp>
        <p:nvSpPr>
          <p:cNvPr id="30" name="Text 27"/>
          <p:cNvSpPr/>
          <p:nvPr/>
        </p:nvSpPr>
        <p:spPr>
          <a:xfrm>
            <a:off x="5394960" y="5148072"/>
            <a:ext cx="5833872" cy="201168"/>
          </a:xfrm>
          <a:prstGeom prst="rect">
            <a:avLst/>
          </a:prstGeom>
          <a:noFill/>
          <a:ln/>
        </p:spPr>
        <p:txBody>
          <a:bodyPr wrap="square" rtlCol="0" anchor="ctr"/>
          <a:lstStyle/>
          <a:p>
            <a:pPr indent="0" marL="0">
              <a:buNone/>
            </a:pPr>
            <a:r>
              <a:rPr lang="en-US" sz="950" dirty="0">
                <a:solidFill>
                  <a:srgbClr val="94A3B8"/>
                </a:solidFill>
              </a:rPr>
              <a:t>✓  Single-use verification token cleared immediately upon reset</a:t>
            </a:r>
            <a:endParaRPr lang="en-US" sz="950" dirty="0"/>
          </a:p>
        </p:txBody>
      </p:sp>
      <p:sp>
        <p:nvSpPr>
          <p:cNvPr id="31" name="Text 28"/>
          <p:cNvSpPr/>
          <p:nvPr/>
        </p:nvSpPr>
        <p:spPr>
          <a:xfrm>
            <a:off x="5394960" y="5367528"/>
            <a:ext cx="5833872" cy="201168"/>
          </a:xfrm>
          <a:prstGeom prst="rect">
            <a:avLst/>
          </a:prstGeom>
          <a:noFill/>
          <a:ln/>
        </p:spPr>
        <p:txBody>
          <a:bodyPr wrap="square" rtlCol="0" anchor="ctr"/>
          <a:lstStyle/>
          <a:p>
            <a:pPr indent="0" marL="0">
              <a:buNone/>
            </a:pPr>
            <a:r>
              <a:rPr lang="en-US" sz="950" dirty="0">
                <a:solidFill>
                  <a:srgbClr val="94A3B8"/>
                </a:solidFill>
              </a:rPr>
              <a:t>✓  Rate-limited endpoints (authLimiter) to prevent brute-force</a:t>
            </a:r>
            <a:endParaRPr lang="en-US" sz="950" dirty="0"/>
          </a:p>
        </p:txBody>
      </p:sp>
      <p:sp>
        <p:nvSpPr>
          <p:cNvPr id="32" name="Shape 29"/>
          <p:cNvSpPr/>
          <p:nvPr/>
        </p:nvSpPr>
        <p:spPr>
          <a:xfrm>
            <a:off x="5394960" y="5550408"/>
            <a:ext cx="5833872" cy="320040"/>
          </a:xfrm>
          <a:prstGeom prst="roundRect">
            <a:avLst>
              <a:gd name="adj" fmla="val 14286"/>
            </a:avLst>
          </a:prstGeom>
          <a:solidFill>
            <a:srgbClr val="090E17"/>
          </a:solidFill>
          <a:ln w="12700">
            <a:solidFill>
              <a:srgbClr val="334155"/>
            </a:solidFill>
            <a:prstDash val="solid"/>
          </a:ln>
        </p:spPr>
      </p:sp>
      <p:sp>
        <p:nvSpPr>
          <p:cNvPr id="33" name="Text 30"/>
          <p:cNvSpPr/>
          <p:nvPr/>
        </p:nvSpPr>
        <p:spPr>
          <a:xfrm>
            <a:off x="5486400" y="5550408"/>
            <a:ext cx="5650992" cy="320040"/>
          </a:xfrm>
          <a:prstGeom prst="rect">
            <a:avLst/>
          </a:prstGeom>
          <a:noFill/>
          <a:ln/>
        </p:spPr>
        <p:txBody>
          <a:bodyPr wrap="square" rtlCol="0" anchor="ctr"/>
          <a:lstStyle/>
          <a:p>
            <a:pPr indent="0" marL="0">
              <a:buNone/>
            </a:pPr>
            <a:r>
              <a:rPr lang="en-US" sz="850" dirty="0">
                <a:solidFill>
                  <a:srgbClr val="10B981"/>
                </a:solidFill>
                <a:latin typeface="Consolas" pitchFamily="34" charset="0"/>
                <a:ea typeface="Consolas" pitchFamily="34" charset="-122"/>
                <a:cs typeface="Consolas" pitchFamily="34" charset="-120"/>
              </a:rPr>
              <a:t>Payload: { email: user@foodwala.com, otp: "724132", ttl: 900s, status: "DISPATCHED" }</a:t>
            </a:r>
            <a:endParaRPr lang="en-US" sz="850" dirty="0"/>
          </a:p>
        </p:txBody>
      </p:sp>
      <p:sp>
        <p:nvSpPr>
          <p:cNvPr id="34" name="Text 31"/>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38BDF8"/>
                </a:solidFill>
              </a:rPr>
              <a:t>Real Transactional Email Screenshot • Delivered via EmailJS • Verified in Gmail Mailbox</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5.5</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Restaurant Discovery &amp; Advanced Filtering</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Comprehensive listing of Bengaluru eateries with multi-criteria filtering by cuisine, customer rating, delivery ETA, veg/non-veg, and budget.</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04_restaurants_discovery.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http://localhost:5000/restaurants_discovery.html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5.6</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Restaurant Menu &amp; Item Customization</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Dynamic restaurant catalog showing categorized dishes, prices, ratings, dietary tags, real-time availability badges, and instant cart addition.</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05_restaurant_menu.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http://localhost:5000/restaurant_menu.html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5.7</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Food Search &amp; Typo-Tolerant Autocomplete</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Real-time search bar with instant autocomplete suggestions powered by the Jaro-Winkler string similarity algorithm for typo resilience.</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06_search_feature.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http://localhost:5000/search_feature.html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5.8</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Cart Management &amp; Live Bill Breakdown</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Interactive shopping cart supporting item increment/decrement, real-time subtotal calculation, delivery fee, GST (5%), platform fee, and coupon application.</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07_cart_page.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http://localhost:5000/cart_page.html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5.9</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Checkout &amp; Delivery Address Selection</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Streamlined checkout interface allowing users to choose saved delivery addresses, provide delivery instructions, and review order totals.</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08_checkout_page.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http://localhost:5000/checkout_page.html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5.10</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Payment Gateway Integration — Razorpay &amp; COD</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Integrated payment processing supporting Razorpay checkout modal (UPI, Debit/Credit cards, Net Banking) alongside Cash on Delivery options.</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09_payment_screen.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http://localhost:5000/checkout.html#payment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5.11</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Order Confirmation &amp; Instant Receipt</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Post-purchase confirmation screen displaying generated Order ID, estimated arrival time, detailed item summary, and live tracking call-to-action.</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10_order_confirmation.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http://localhost:5000/order_confirmation.html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5.12</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Order Confirmation — Automated Transactional Email Receipt</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Official order confirmation receipt delivered via EmailJS immediately following Razorpay transaction, detailing Order ID #41486, Vidyarthi Bhavan restaurant, and paid grand total.</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731520" y="1417320"/>
            <a:ext cx="4206240" cy="4590288"/>
          </a:xfrm>
          <a:prstGeom prst="roundRect">
            <a:avLst>
              <a:gd name="adj" fmla="val 1739"/>
            </a:avLst>
          </a:prstGeom>
          <a:solidFill>
            <a:srgbClr val="1E293B"/>
          </a:solidFill>
          <a:ln w="12700">
            <a:solidFill>
              <a:srgbClr val="334155"/>
            </a:solidFill>
            <a:prstDash val="solid"/>
          </a:ln>
        </p:spPr>
      </p:sp>
      <p:pic>
        <p:nvPicPr>
          <p:cNvPr id="9" name="Image 0" descr="D:\FoodWala_Eclipse_Project\presentation\screenshots\20_email_order_receipt.png">    </p:cNvPr>
          <p:cNvPicPr>
            <a:picLocks noChangeAspect="1"/>
          </p:cNvPicPr>
          <p:nvPr/>
        </p:nvPicPr>
        <p:blipFill>
          <a:blip r:embed="rId1"/>
          <a:srcRect l="0" r="0" t="0" b="0"/>
          <a:stretch/>
        </p:blipFill>
        <p:spPr>
          <a:xfrm>
            <a:off x="841248" y="1508760"/>
            <a:ext cx="3986784" cy="4407408"/>
          </a:xfrm>
          <a:prstGeom prst="rect">
            <a:avLst/>
          </a:prstGeom>
        </p:spPr>
      </p:pic>
      <p:sp>
        <p:nvSpPr>
          <p:cNvPr id="10" name="Shape 7"/>
          <p:cNvSpPr/>
          <p:nvPr/>
        </p:nvSpPr>
        <p:spPr>
          <a:xfrm>
            <a:off x="5166360" y="1417320"/>
            <a:ext cx="6291072" cy="4590288"/>
          </a:xfrm>
          <a:prstGeom prst="roundRect">
            <a:avLst>
              <a:gd name="adj" fmla="val 1594"/>
            </a:avLst>
          </a:prstGeom>
          <a:solidFill>
            <a:srgbClr val="1E293B"/>
          </a:solidFill>
          <a:ln w="12700">
            <a:solidFill>
              <a:srgbClr val="334155"/>
            </a:solidFill>
            <a:prstDash val="solid"/>
          </a:ln>
        </p:spPr>
      </p:sp>
      <p:sp>
        <p:nvSpPr>
          <p:cNvPr id="11" name="Shape 8"/>
          <p:cNvSpPr/>
          <p:nvPr/>
        </p:nvSpPr>
        <p:spPr>
          <a:xfrm>
            <a:off x="5394960" y="1618488"/>
            <a:ext cx="2926080" cy="256032"/>
          </a:xfrm>
          <a:prstGeom prst="roundRect">
            <a:avLst>
              <a:gd name="adj" fmla="val 50000"/>
            </a:avLst>
          </a:prstGeom>
          <a:solidFill>
            <a:srgbClr val="10B981">
              <a:alpha val="15000"/>
            </a:srgbClr>
          </a:solidFill>
          <a:ln w="12700">
            <a:solidFill>
              <a:srgbClr val="10B981"/>
            </a:solidFill>
            <a:prstDash val="solid"/>
          </a:ln>
        </p:spPr>
      </p:sp>
      <p:sp>
        <p:nvSpPr>
          <p:cNvPr id="12" name="Text 9"/>
          <p:cNvSpPr/>
          <p:nvPr/>
        </p:nvSpPr>
        <p:spPr>
          <a:xfrm>
            <a:off x="5394960" y="1618488"/>
            <a:ext cx="2926080" cy="256032"/>
          </a:xfrm>
          <a:prstGeom prst="rect">
            <a:avLst/>
          </a:prstGeom>
          <a:noFill/>
          <a:ln/>
        </p:spPr>
        <p:txBody>
          <a:bodyPr wrap="square" rtlCol="0" anchor="ctr"/>
          <a:lstStyle/>
          <a:p>
            <a:pPr algn="ctr" indent="0" marL="0">
              <a:buNone/>
            </a:pPr>
            <a:r>
              <a:rPr lang="en-US" sz="900" b="1" dirty="0">
                <a:solidFill>
                  <a:srgbClr val="10B981"/>
                </a:solidFill>
              </a:rPr>
              <a:t>TRANSACTIONAL ORDER CONFIRMATION</a:t>
            </a:r>
            <a:endParaRPr lang="en-US" sz="900" dirty="0"/>
          </a:p>
        </p:txBody>
      </p:sp>
      <p:sp>
        <p:nvSpPr>
          <p:cNvPr id="13" name="Text 10"/>
          <p:cNvSpPr/>
          <p:nvPr/>
        </p:nvSpPr>
        <p:spPr>
          <a:xfrm>
            <a:off x="5394960" y="1947672"/>
            <a:ext cx="5833872" cy="320040"/>
          </a:xfrm>
          <a:prstGeom prst="rect">
            <a:avLst/>
          </a:prstGeom>
          <a:noFill/>
          <a:ln/>
        </p:spPr>
        <p:txBody>
          <a:bodyPr wrap="square" rtlCol="0" anchor="ctr"/>
          <a:lstStyle/>
          <a:p>
            <a:pPr indent="0" marL="0">
              <a:buNone/>
            </a:pPr>
            <a:r>
              <a:rPr lang="en-US" sz="1500" b="1" dirty="0">
                <a:solidFill>
                  <a:srgbClr val="F8FAFC"/>
                </a:solidFill>
              </a:rPr>
              <a:t>Automated Post-Checkout Email Receipt</a:t>
            </a:r>
            <a:endParaRPr lang="en-US" sz="1500" dirty="0"/>
          </a:p>
        </p:txBody>
      </p:sp>
      <p:sp>
        <p:nvSpPr>
          <p:cNvPr id="14" name="Text 11"/>
          <p:cNvSpPr/>
          <p:nvPr/>
        </p:nvSpPr>
        <p:spPr>
          <a:xfrm>
            <a:off x="5394960" y="2286000"/>
            <a:ext cx="5833872" cy="320040"/>
          </a:xfrm>
          <a:prstGeom prst="rect">
            <a:avLst/>
          </a:prstGeom>
          <a:noFill/>
          <a:ln/>
        </p:spPr>
        <p:txBody>
          <a:bodyPr wrap="square" rtlCol="0" anchor="ctr"/>
          <a:lstStyle/>
          <a:p>
            <a:pPr indent="0" marL="0">
              <a:buNone/>
            </a:pPr>
            <a:r>
              <a:rPr lang="en-US" sz="1050" dirty="0">
                <a:solidFill>
                  <a:srgbClr val="94A3B8"/>
                </a:solidFill>
              </a:rPr>
              <a:t>Instant transactional order receipt dispatched to customer inbox upon successful payment.</a:t>
            </a:r>
            <a:endParaRPr lang="en-US" sz="1050" dirty="0"/>
          </a:p>
        </p:txBody>
      </p:sp>
      <p:sp>
        <p:nvSpPr>
          <p:cNvPr id="15" name="Shape 12"/>
          <p:cNvSpPr/>
          <p:nvPr/>
        </p:nvSpPr>
        <p:spPr>
          <a:xfrm>
            <a:off x="5394960" y="2697480"/>
            <a:ext cx="5833872" cy="347472"/>
          </a:xfrm>
          <a:prstGeom prst="roundRect">
            <a:avLst>
              <a:gd name="adj" fmla="val 13158"/>
            </a:avLst>
          </a:prstGeom>
          <a:solidFill>
            <a:srgbClr val="0F172A"/>
          </a:solidFill>
          <a:ln w="12700">
            <a:solidFill>
              <a:srgbClr val="334155"/>
            </a:solidFill>
            <a:prstDash val="solid"/>
          </a:ln>
        </p:spPr>
      </p:sp>
      <p:sp>
        <p:nvSpPr>
          <p:cNvPr id="16" name="Text 13"/>
          <p:cNvSpPr/>
          <p:nvPr/>
        </p:nvSpPr>
        <p:spPr>
          <a:xfrm>
            <a:off x="5486400" y="2743200"/>
            <a:ext cx="1463040" cy="256032"/>
          </a:xfrm>
          <a:prstGeom prst="rect">
            <a:avLst/>
          </a:prstGeom>
          <a:noFill/>
          <a:ln/>
        </p:spPr>
        <p:txBody>
          <a:bodyPr wrap="square" rtlCol="0" anchor="ctr"/>
          <a:lstStyle/>
          <a:p>
            <a:pPr indent="0" marL="0">
              <a:buNone/>
            </a:pPr>
            <a:r>
              <a:rPr lang="en-US" sz="900" b="1" dirty="0">
                <a:solidFill>
                  <a:srgbClr val="38BDF8"/>
                </a:solidFill>
              </a:rPr>
              <a:t>Order ID</a:t>
            </a:r>
            <a:endParaRPr lang="en-US" sz="900" dirty="0"/>
          </a:p>
        </p:txBody>
      </p:sp>
      <p:sp>
        <p:nvSpPr>
          <p:cNvPr id="17" name="Text 14"/>
          <p:cNvSpPr/>
          <p:nvPr/>
        </p:nvSpPr>
        <p:spPr>
          <a:xfrm>
            <a:off x="7040880" y="2743200"/>
            <a:ext cx="4142232" cy="256032"/>
          </a:xfrm>
          <a:prstGeom prst="rect">
            <a:avLst/>
          </a:prstGeom>
          <a:noFill/>
          <a:ln/>
        </p:spPr>
        <p:txBody>
          <a:bodyPr wrap="square" rtlCol="0" anchor="ctr"/>
          <a:lstStyle/>
          <a:p>
            <a:pPr indent="0" marL="0">
              <a:buNone/>
            </a:pPr>
            <a:r>
              <a:rPr lang="en-US" sz="950" dirty="0">
                <a:solidFill>
                  <a:srgbClr val="F8FAFC"/>
                </a:solidFill>
              </a:rPr>
              <a:t>Order #41486 • Vidyarthi Bhavan</a:t>
            </a:r>
            <a:endParaRPr lang="en-US" sz="950" dirty="0"/>
          </a:p>
        </p:txBody>
      </p:sp>
      <p:sp>
        <p:nvSpPr>
          <p:cNvPr id="18" name="Shape 15"/>
          <p:cNvSpPr/>
          <p:nvPr/>
        </p:nvSpPr>
        <p:spPr>
          <a:xfrm>
            <a:off x="5394960" y="3118104"/>
            <a:ext cx="5833872" cy="347472"/>
          </a:xfrm>
          <a:prstGeom prst="roundRect">
            <a:avLst>
              <a:gd name="adj" fmla="val 13158"/>
            </a:avLst>
          </a:prstGeom>
          <a:solidFill>
            <a:srgbClr val="0F172A"/>
          </a:solidFill>
          <a:ln w="12700">
            <a:solidFill>
              <a:srgbClr val="334155"/>
            </a:solidFill>
            <a:prstDash val="solid"/>
          </a:ln>
        </p:spPr>
      </p:sp>
      <p:sp>
        <p:nvSpPr>
          <p:cNvPr id="19" name="Text 16"/>
          <p:cNvSpPr/>
          <p:nvPr/>
        </p:nvSpPr>
        <p:spPr>
          <a:xfrm>
            <a:off x="5486400" y="3163824"/>
            <a:ext cx="1463040" cy="256032"/>
          </a:xfrm>
          <a:prstGeom prst="rect">
            <a:avLst/>
          </a:prstGeom>
          <a:noFill/>
          <a:ln/>
        </p:spPr>
        <p:txBody>
          <a:bodyPr wrap="square" rtlCol="0" anchor="ctr"/>
          <a:lstStyle/>
          <a:p>
            <a:pPr indent="0" marL="0">
              <a:buNone/>
            </a:pPr>
            <a:r>
              <a:rPr lang="en-US" sz="900" b="1" dirty="0">
                <a:solidFill>
                  <a:srgbClr val="38BDF8"/>
                </a:solidFill>
              </a:rPr>
              <a:t>Recipient</a:t>
            </a:r>
            <a:endParaRPr lang="en-US" sz="900" dirty="0"/>
          </a:p>
        </p:txBody>
      </p:sp>
      <p:sp>
        <p:nvSpPr>
          <p:cNvPr id="20" name="Text 17"/>
          <p:cNvSpPr/>
          <p:nvPr/>
        </p:nvSpPr>
        <p:spPr>
          <a:xfrm>
            <a:off x="7040880" y="3163824"/>
            <a:ext cx="4142232" cy="256032"/>
          </a:xfrm>
          <a:prstGeom prst="rect">
            <a:avLst/>
          </a:prstGeom>
          <a:noFill/>
          <a:ln/>
        </p:spPr>
        <p:txBody>
          <a:bodyPr wrap="square" rtlCol="0" anchor="ctr"/>
          <a:lstStyle/>
          <a:p>
            <a:pPr indent="0" marL="0">
              <a:buNone/>
            </a:pPr>
            <a:r>
              <a:rPr lang="en-US" sz="950" dirty="0">
                <a:solidFill>
                  <a:srgbClr val="F8FAFC"/>
                </a:solidFill>
              </a:rPr>
              <a:t>Vishnu Vardhan Reddy (Customer Mailbox)</a:t>
            </a:r>
            <a:endParaRPr lang="en-US" sz="950" dirty="0"/>
          </a:p>
        </p:txBody>
      </p:sp>
      <p:sp>
        <p:nvSpPr>
          <p:cNvPr id="21" name="Shape 18"/>
          <p:cNvSpPr/>
          <p:nvPr/>
        </p:nvSpPr>
        <p:spPr>
          <a:xfrm>
            <a:off x="5394960" y="3538728"/>
            <a:ext cx="5833872" cy="347472"/>
          </a:xfrm>
          <a:prstGeom prst="roundRect">
            <a:avLst>
              <a:gd name="adj" fmla="val 13158"/>
            </a:avLst>
          </a:prstGeom>
          <a:solidFill>
            <a:srgbClr val="0F172A"/>
          </a:solidFill>
          <a:ln w="12700">
            <a:solidFill>
              <a:srgbClr val="334155"/>
            </a:solidFill>
            <a:prstDash val="solid"/>
          </a:ln>
        </p:spPr>
      </p:sp>
      <p:sp>
        <p:nvSpPr>
          <p:cNvPr id="22" name="Text 19"/>
          <p:cNvSpPr/>
          <p:nvPr/>
        </p:nvSpPr>
        <p:spPr>
          <a:xfrm>
            <a:off x="5486400" y="3584448"/>
            <a:ext cx="1463040" cy="256032"/>
          </a:xfrm>
          <a:prstGeom prst="rect">
            <a:avLst/>
          </a:prstGeom>
          <a:noFill/>
          <a:ln/>
        </p:spPr>
        <p:txBody>
          <a:bodyPr wrap="square" rtlCol="0" anchor="ctr"/>
          <a:lstStyle/>
          <a:p>
            <a:pPr indent="0" marL="0">
              <a:buNone/>
            </a:pPr>
            <a:r>
              <a:rPr lang="en-US" sz="900" b="1" dirty="0">
                <a:solidFill>
                  <a:srgbClr val="38BDF8"/>
                </a:solidFill>
              </a:rPr>
              <a:t>Total Paid</a:t>
            </a:r>
            <a:endParaRPr lang="en-US" sz="900" dirty="0"/>
          </a:p>
        </p:txBody>
      </p:sp>
      <p:sp>
        <p:nvSpPr>
          <p:cNvPr id="23" name="Text 20"/>
          <p:cNvSpPr/>
          <p:nvPr/>
        </p:nvSpPr>
        <p:spPr>
          <a:xfrm>
            <a:off x="7040880" y="3584448"/>
            <a:ext cx="4142232" cy="256032"/>
          </a:xfrm>
          <a:prstGeom prst="rect">
            <a:avLst/>
          </a:prstGeom>
          <a:noFill/>
          <a:ln/>
        </p:spPr>
        <p:txBody>
          <a:bodyPr wrap="square" rtlCol="0" anchor="ctr"/>
          <a:lstStyle/>
          <a:p>
            <a:pPr indent="0" marL="0">
              <a:buNone/>
            </a:pPr>
            <a:r>
              <a:rPr lang="en-US" sz="950" dirty="0">
                <a:solidFill>
                  <a:srgbClr val="F8FAFC"/>
                </a:solidFill>
              </a:rPr>
              <a:t>Rs. 192.00 (Razorpay Test Sandbox)</a:t>
            </a:r>
            <a:endParaRPr lang="en-US" sz="950" dirty="0"/>
          </a:p>
        </p:txBody>
      </p:sp>
      <p:sp>
        <p:nvSpPr>
          <p:cNvPr id="24" name="Shape 21"/>
          <p:cNvSpPr/>
          <p:nvPr/>
        </p:nvSpPr>
        <p:spPr>
          <a:xfrm>
            <a:off x="5394960" y="3959352"/>
            <a:ext cx="5833872" cy="347472"/>
          </a:xfrm>
          <a:prstGeom prst="roundRect">
            <a:avLst>
              <a:gd name="adj" fmla="val 13158"/>
            </a:avLst>
          </a:prstGeom>
          <a:solidFill>
            <a:srgbClr val="0F172A"/>
          </a:solidFill>
          <a:ln w="12700">
            <a:solidFill>
              <a:srgbClr val="334155"/>
            </a:solidFill>
            <a:prstDash val="solid"/>
          </a:ln>
        </p:spPr>
      </p:sp>
      <p:sp>
        <p:nvSpPr>
          <p:cNvPr id="25" name="Text 22"/>
          <p:cNvSpPr/>
          <p:nvPr/>
        </p:nvSpPr>
        <p:spPr>
          <a:xfrm>
            <a:off x="5486400" y="4005072"/>
            <a:ext cx="1463040" cy="256032"/>
          </a:xfrm>
          <a:prstGeom prst="rect">
            <a:avLst/>
          </a:prstGeom>
          <a:noFill/>
          <a:ln/>
        </p:spPr>
        <p:txBody>
          <a:bodyPr wrap="square" rtlCol="0" anchor="ctr"/>
          <a:lstStyle/>
          <a:p>
            <a:pPr indent="0" marL="0">
              <a:buNone/>
            </a:pPr>
            <a:r>
              <a:rPr lang="en-US" sz="900" b="1" dirty="0">
                <a:solidFill>
                  <a:srgbClr val="38BDF8"/>
                </a:solidFill>
              </a:rPr>
              <a:t>Dispatched Items</a:t>
            </a:r>
            <a:endParaRPr lang="en-US" sz="900" dirty="0"/>
          </a:p>
        </p:txBody>
      </p:sp>
      <p:sp>
        <p:nvSpPr>
          <p:cNvPr id="26" name="Text 23"/>
          <p:cNvSpPr/>
          <p:nvPr/>
        </p:nvSpPr>
        <p:spPr>
          <a:xfrm>
            <a:off x="7040880" y="4005072"/>
            <a:ext cx="4142232" cy="256032"/>
          </a:xfrm>
          <a:prstGeom prst="rect">
            <a:avLst/>
          </a:prstGeom>
          <a:noFill/>
          <a:ln/>
        </p:spPr>
        <p:txBody>
          <a:bodyPr wrap="square" rtlCol="0" anchor="ctr"/>
          <a:lstStyle/>
          <a:p>
            <a:pPr indent="0" marL="0">
              <a:buNone/>
            </a:pPr>
            <a:r>
              <a:rPr lang="en-US" sz="950" dirty="0">
                <a:solidFill>
                  <a:srgbClr val="F8FAFC"/>
                </a:solidFill>
              </a:rPr>
              <a:t>Steamed Idli (2x), Medu Vada, Khara Bath, Benne Masala Dosa</a:t>
            </a:r>
            <a:endParaRPr lang="en-US" sz="950" dirty="0"/>
          </a:p>
        </p:txBody>
      </p:sp>
      <p:sp>
        <p:nvSpPr>
          <p:cNvPr id="27" name="Text 24"/>
          <p:cNvSpPr/>
          <p:nvPr/>
        </p:nvSpPr>
        <p:spPr>
          <a:xfrm>
            <a:off x="5394960" y="4471416"/>
            <a:ext cx="5833872" cy="228600"/>
          </a:xfrm>
          <a:prstGeom prst="rect">
            <a:avLst/>
          </a:prstGeom>
          <a:noFill/>
          <a:ln/>
        </p:spPr>
        <p:txBody>
          <a:bodyPr wrap="square" rtlCol="0" anchor="ctr"/>
          <a:lstStyle/>
          <a:p>
            <a:pPr indent="0" marL="0">
              <a:buNone/>
            </a:pPr>
            <a:r>
              <a:rPr lang="en-US" sz="1100" b="1" dirty="0">
                <a:solidFill>
                  <a:srgbClr val="EF4444"/>
                </a:solidFill>
              </a:rPr>
              <a:t>Key Architectural Highlights:</a:t>
            </a:r>
            <a:endParaRPr lang="en-US" sz="1100" dirty="0"/>
          </a:p>
        </p:txBody>
      </p:sp>
      <p:sp>
        <p:nvSpPr>
          <p:cNvPr id="28" name="Text 25"/>
          <p:cNvSpPr/>
          <p:nvPr/>
        </p:nvSpPr>
        <p:spPr>
          <a:xfrm>
            <a:off x="5394960" y="4709160"/>
            <a:ext cx="5833872" cy="201168"/>
          </a:xfrm>
          <a:prstGeom prst="rect">
            <a:avLst/>
          </a:prstGeom>
          <a:noFill/>
          <a:ln/>
        </p:spPr>
        <p:txBody>
          <a:bodyPr wrap="square" rtlCol="0" anchor="ctr"/>
          <a:lstStyle/>
          <a:p>
            <a:pPr indent="0" marL="0">
              <a:buNone/>
            </a:pPr>
            <a:r>
              <a:rPr lang="en-US" sz="950" dirty="0">
                <a:solidFill>
                  <a:srgbClr val="94A3B8"/>
                </a:solidFill>
              </a:rPr>
              <a:t>✓  Automated dispatch via EmailJS REST Client (emailService.js)</a:t>
            </a:r>
            <a:endParaRPr lang="en-US" sz="950" dirty="0"/>
          </a:p>
        </p:txBody>
      </p:sp>
      <p:sp>
        <p:nvSpPr>
          <p:cNvPr id="29" name="Text 26"/>
          <p:cNvSpPr/>
          <p:nvPr/>
        </p:nvSpPr>
        <p:spPr>
          <a:xfrm>
            <a:off x="5394960" y="4928616"/>
            <a:ext cx="5833872" cy="201168"/>
          </a:xfrm>
          <a:prstGeom prst="rect">
            <a:avLst/>
          </a:prstGeom>
          <a:noFill/>
          <a:ln/>
        </p:spPr>
        <p:txBody>
          <a:bodyPr wrap="square" rtlCol="0" anchor="ctr"/>
          <a:lstStyle/>
          <a:p>
            <a:pPr indent="0" marL="0">
              <a:buNone/>
            </a:pPr>
            <a:r>
              <a:rPr lang="en-US" sz="950" dirty="0">
                <a:solidFill>
                  <a:srgbClr val="94A3B8"/>
                </a:solidFill>
              </a:rPr>
              <a:t>✓  Triggered atomically upon ACID transaction commit</a:t>
            </a:r>
            <a:endParaRPr lang="en-US" sz="950" dirty="0"/>
          </a:p>
        </p:txBody>
      </p:sp>
      <p:sp>
        <p:nvSpPr>
          <p:cNvPr id="30" name="Text 27"/>
          <p:cNvSpPr/>
          <p:nvPr/>
        </p:nvSpPr>
        <p:spPr>
          <a:xfrm>
            <a:off x="5394960" y="5148072"/>
            <a:ext cx="5833872" cy="201168"/>
          </a:xfrm>
          <a:prstGeom prst="rect">
            <a:avLst/>
          </a:prstGeom>
          <a:noFill/>
          <a:ln/>
        </p:spPr>
        <p:txBody>
          <a:bodyPr wrap="square" rtlCol="0" anchor="ctr"/>
          <a:lstStyle/>
          <a:p>
            <a:pPr indent="0" marL="0">
              <a:buNone/>
            </a:pPr>
            <a:r>
              <a:rPr lang="en-US" sz="950" dirty="0">
                <a:solidFill>
                  <a:srgbClr val="94A3B8"/>
                </a:solidFill>
              </a:rPr>
              <a:t>✓  Itemized billing breakdown matching database record</a:t>
            </a:r>
            <a:endParaRPr lang="en-US" sz="950" dirty="0"/>
          </a:p>
        </p:txBody>
      </p:sp>
      <p:sp>
        <p:nvSpPr>
          <p:cNvPr id="31" name="Text 28"/>
          <p:cNvSpPr/>
          <p:nvPr/>
        </p:nvSpPr>
        <p:spPr>
          <a:xfrm>
            <a:off x="5394960" y="5367528"/>
            <a:ext cx="5833872" cy="201168"/>
          </a:xfrm>
          <a:prstGeom prst="rect">
            <a:avLst/>
          </a:prstGeom>
          <a:noFill/>
          <a:ln/>
        </p:spPr>
        <p:txBody>
          <a:bodyPr wrap="square" rtlCol="0" anchor="ctr"/>
          <a:lstStyle/>
          <a:p>
            <a:pPr indent="0" marL="0">
              <a:buNone/>
            </a:pPr>
            <a:r>
              <a:rPr lang="en-US" sz="950" dirty="0">
                <a:solidFill>
                  <a:srgbClr val="94A3B8"/>
                </a:solidFill>
              </a:rPr>
              <a:t>✓  Permanent audit record logged with order timestamp</a:t>
            </a:r>
            <a:endParaRPr lang="en-US" sz="950" dirty="0"/>
          </a:p>
        </p:txBody>
      </p:sp>
      <p:sp>
        <p:nvSpPr>
          <p:cNvPr id="32" name="Shape 29"/>
          <p:cNvSpPr/>
          <p:nvPr/>
        </p:nvSpPr>
        <p:spPr>
          <a:xfrm>
            <a:off x="5394960" y="5550408"/>
            <a:ext cx="5833872" cy="320040"/>
          </a:xfrm>
          <a:prstGeom prst="roundRect">
            <a:avLst>
              <a:gd name="adj" fmla="val 14286"/>
            </a:avLst>
          </a:prstGeom>
          <a:solidFill>
            <a:srgbClr val="090E17"/>
          </a:solidFill>
          <a:ln w="12700">
            <a:solidFill>
              <a:srgbClr val="334155"/>
            </a:solidFill>
            <a:prstDash val="solid"/>
          </a:ln>
        </p:spPr>
      </p:sp>
      <p:sp>
        <p:nvSpPr>
          <p:cNvPr id="33" name="Text 30"/>
          <p:cNvSpPr/>
          <p:nvPr/>
        </p:nvSpPr>
        <p:spPr>
          <a:xfrm>
            <a:off x="5486400" y="5550408"/>
            <a:ext cx="5650992" cy="320040"/>
          </a:xfrm>
          <a:prstGeom prst="rect">
            <a:avLst/>
          </a:prstGeom>
          <a:noFill/>
          <a:ln/>
        </p:spPr>
        <p:txBody>
          <a:bodyPr wrap="square" rtlCol="0" anchor="ctr"/>
          <a:lstStyle/>
          <a:p>
            <a:pPr indent="0" marL="0">
              <a:buNone/>
            </a:pPr>
            <a:r>
              <a:rPr lang="en-US" sz="850" dirty="0">
                <a:solidFill>
                  <a:srgbClr val="10B981"/>
                </a:solidFill>
                <a:latin typeface="Consolas" pitchFamily="34" charset="0"/>
                <a:ea typeface="Consolas" pitchFamily="34" charset="-122"/>
                <a:cs typeface="Consolas" pitchFamily="34" charset="-120"/>
              </a:rPr>
              <a:t>Payload: { orderId: 41486, items: 4, grandTotal: "Rs. 192.00", channel: "EMAILJS_REST" }</a:t>
            </a:r>
            <a:endParaRPr lang="en-US" sz="850" dirty="0"/>
          </a:p>
        </p:txBody>
      </p:sp>
      <p:sp>
        <p:nvSpPr>
          <p:cNvPr id="34" name="Text 31"/>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38BDF8"/>
                </a:solidFill>
              </a:rPr>
              <a:t>Real Transactional Email Screenshot • Delivered via EmailJS • Verified in Gmail Mailbox</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5.13</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Live Order Tracking &amp; 5-Stage Status Pipeline</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Real-time order progress monitor tracking 5 distinct stages: Order Placed -&gt; Confirmed -&gt; Food Prepared -&gt; Out for Delivery -&gt; Delivered.</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11_order_tracking.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http://localhost:5000/order_tracking.html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5.14</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Order History &amp; Digital Invoices</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Comprehensive log of past orders with timestamps, status tags, itemized costs, one-click re-order functionality, and invoice retrieval.</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12_orders_history.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http://localhost:5000/orders_history.html</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5.15</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User Profile &amp; Account Management</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Customer management portal showing personal profile details, contact information, password modification tools, and account security preferences.</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13_profile_page.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http://localhost:5000/profile_page.html</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5.16</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Saved Delivery Addresses &amp; Geolocation</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Address book management allowing users to save multiple locations (Home, Work, Other) with street details, landmarks, and default selections.</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14_address_management.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http://localhost:5000/address_management.html</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5.17</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Super Admin Console &amp; Platform Analytics</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Platform management dashboard displaying system-wide gross merchandise volume (GMV), active restaurant approvals, user metrics, and revenue charts.</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15_admin_dashboard.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http://localhost:5000/admin_dashboard.html</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5.18</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Restaurant Manager Dashboard &amp; Store Isolation</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Store-isolated management portal allowing authorized managers to accept/reject incoming orders, update dish availability, and inspect sales trends.</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16_restaurant_manager_dashboard.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http://localhost:5000/restaurant_manager_dashboard.html</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5.19</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Delivery Partner Fleet Portal</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Dedicated driver mobile portal with real-time GPS coordinate reporting, assigned delivery orders list, and order delivery status updates.</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17_delivery_partner_portal.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http://localhost:5000/delivery_partner_portal.html</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5.20</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WhatsApp 24/7 AI Assistance Desk</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Dual-channel conversational AI assistant resolving customer queries, order status inquiries, menu suggestions, and escalation tickets.</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18_whatsapp_ai_assistant.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900" i="1" dirty="0">
                <a:solidFill>
                  <a:srgbClr val="94A3B8"/>
                </a:solidFill>
              </a:rPr>
              <a:t>Real Application Screenshot • 1920×1080 Viewport • http://localhost:5000/whatsapp_ai_assistant.html</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6</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New Features Added &amp; Innovative Capabilities</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Visual showcase of production capabilities built beyond base requirement: Typo Search, WhatsApp AI Desk, Store Isolation, Dark Mode</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1965960" y="1371600"/>
            <a:ext cx="8257032" cy="4645152"/>
          </a:xfrm>
          <a:prstGeom prst="roundRect">
            <a:avLst>
              <a:gd name="adj" fmla="val 1575"/>
            </a:avLst>
          </a:prstGeom>
          <a:solidFill>
            <a:srgbClr val="1E293B"/>
          </a:solidFill>
          <a:ln w="12700">
            <a:solidFill>
              <a:srgbClr val="334155"/>
            </a:solidFill>
            <a:prstDash val="solid"/>
          </a:ln>
        </p:spPr>
      </p:sp>
      <p:pic>
        <p:nvPicPr>
          <p:cNvPr id="9" name="Image 0" descr="D:\FoodWala_Eclipse_Project\presentation\screenshots\19_new_features_showcase.png">    </p:cNvPr>
          <p:cNvPicPr>
            <a:picLocks noChangeAspect="1"/>
          </p:cNvPicPr>
          <p:nvPr/>
        </p:nvPicPr>
        <p:blipFill>
          <a:blip r:embed="rId1"/>
          <a:srcRect l="0" r="0" t="0" b="0"/>
          <a:stretch/>
        </p:blipFill>
        <p:spPr>
          <a:xfrm>
            <a:off x="2112264" y="1444752"/>
            <a:ext cx="7964424" cy="4480560"/>
          </a:xfrm>
          <a:prstGeom prst="rect">
            <a:avLst/>
          </a:prstGeom>
        </p:spPr>
      </p:pic>
      <p:sp>
        <p:nvSpPr>
          <p:cNvPr id="10" name="Text 7"/>
          <p:cNvSpPr/>
          <p:nvPr/>
        </p:nvSpPr>
        <p:spPr>
          <a:xfrm>
            <a:off x="731520" y="6108192"/>
            <a:ext cx="10725912" cy="274320"/>
          </a:xfrm>
          <a:prstGeom prst="rect">
            <a:avLst/>
          </a:prstGeom>
          <a:noFill/>
          <a:ln/>
        </p:spPr>
        <p:txBody>
          <a:bodyPr wrap="square" rtlCol="0" anchor="ctr"/>
          <a:lstStyle/>
          <a:p>
            <a:pPr algn="ctr" indent="0" marL="0">
              <a:buNone/>
            </a:pPr>
            <a:r>
              <a:rPr lang="en-US" sz="1000" b="1" dirty="0">
                <a:solidFill>
                  <a:srgbClr val="38BDF8"/>
                </a:solidFill>
              </a:rPr>
              <a:t>Key Innovations: 1. Jaro-Winkler Typo Search • 2. 25-Intent WhatsApp AI Desk • 3. Store Data Isolation • 4. Adaptive Dark Mode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7</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Important Algorithms &amp; Core Engineering</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Mathematical and algorithmic logic driving search similarity, cart billing, transactional integrity, and NLP classification</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731520" y="1508760"/>
            <a:ext cx="5212080" cy="2176272"/>
          </a:xfrm>
          <a:prstGeom prst="roundRect">
            <a:avLst>
              <a:gd name="adj" fmla="val 3361"/>
            </a:avLst>
          </a:prstGeom>
          <a:solidFill>
            <a:srgbClr val="1E293B"/>
          </a:solidFill>
          <a:ln w="12700">
            <a:solidFill>
              <a:srgbClr val="334155"/>
            </a:solidFill>
            <a:prstDash val="solid"/>
          </a:ln>
        </p:spPr>
      </p:sp>
      <p:sp>
        <p:nvSpPr>
          <p:cNvPr id="9" name="Shape 7"/>
          <p:cNvSpPr/>
          <p:nvPr/>
        </p:nvSpPr>
        <p:spPr>
          <a:xfrm>
            <a:off x="914400" y="1645920"/>
            <a:ext cx="1463040" cy="237744"/>
          </a:xfrm>
          <a:prstGeom prst="roundRect">
            <a:avLst>
              <a:gd name="adj" fmla="val 50000"/>
            </a:avLst>
          </a:prstGeom>
          <a:solidFill>
            <a:srgbClr val="38BDF8">
              <a:alpha val="15000"/>
            </a:srgbClr>
          </a:solidFill>
          <a:ln w="12700">
            <a:solidFill>
              <a:srgbClr val="38BDF8"/>
            </a:solidFill>
            <a:prstDash val="solid"/>
          </a:ln>
        </p:spPr>
      </p:sp>
      <p:sp>
        <p:nvSpPr>
          <p:cNvPr id="10" name="Text 8"/>
          <p:cNvSpPr/>
          <p:nvPr/>
        </p:nvSpPr>
        <p:spPr>
          <a:xfrm>
            <a:off x="914400" y="1645920"/>
            <a:ext cx="1463040" cy="237744"/>
          </a:xfrm>
          <a:prstGeom prst="rect">
            <a:avLst/>
          </a:prstGeom>
          <a:noFill/>
          <a:ln/>
        </p:spPr>
        <p:txBody>
          <a:bodyPr wrap="square" rtlCol="0" anchor="ctr"/>
          <a:lstStyle/>
          <a:p>
            <a:pPr algn="ctr" indent="0" marL="0">
              <a:buNone/>
            </a:pPr>
            <a:r>
              <a:rPr lang="en-US" sz="850" b="1" dirty="0">
                <a:solidFill>
                  <a:srgbClr val="38BDF8"/>
                </a:solidFill>
              </a:rPr>
              <a:t>FUZZY SEARCH</a:t>
            </a:r>
            <a:endParaRPr lang="en-US" sz="850" dirty="0"/>
          </a:p>
        </p:txBody>
      </p:sp>
      <p:sp>
        <p:nvSpPr>
          <p:cNvPr id="11" name="Text 9"/>
          <p:cNvSpPr/>
          <p:nvPr/>
        </p:nvSpPr>
        <p:spPr>
          <a:xfrm>
            <a:off x="2468880" y="1618488"/>
            <a:ext cx="3291840" cy="292608"/>
          </a:xfrm>
          <a:prstGeom prst="rect">
            <a:avLst/>
          </a:prstGeom>
          <a:noFill/>
          <a:ln/>
        </p:spPr>
        <p:txBody>
          <a:bodyPr wrap="square" rtlCol="0" anchor="ctr"/>
          <a:lstStyle/>
          <a:p>
            <a:pPr indent="0" marL="0">
              <a:buNone/>
            </a:pPr>
            <a:r>
              <a:rPr lang="en-US" sz="1200" b="1" dirty="0">
                <a:solidFill>
                  <a:srgbClr val="F8FAFC"/>
                </a:solidFill>
              </a:rPr>
              <a:t>1. Jaro-Winkler String Distance Algorithm</a:t>
            </a:r>
            <a:endParaRPr lang="en-US" sz="1200" dirty="0"/>
          </a:p>
        </p:txBody>
      </p:sp>
      <p:sp>
        <p:nvSpPr>
          <p:cNvPr id="12" name="Text 10"/>
          <p:cNvSpPr/>
          <p:nvPr/>
        </p:nvSpPr>
        <p:spPr>
          <a:xfrm>
            <a:off x="914400" y="1965960"/>
            <a:ext cx="4846320" cy="365760"/>
          </a:xfrm>
          <a:prstGeom prst="rect">
            <a:avLst/>
          </a:prstGeom>
          <a:noFill/>
          <a:ln/>
        </p:spPr>
        <p:txBody>
          <a:bodyPr wrap="square" rtlCol="0" anchor="ctr"/>
          <a:lstStyle/>
          <a:p>
            <a:pPr indent="0" marL="0">
              <a:buNone/>
            </a:pPr>
            <a:r>
              <a:rPr lang="en-US" sz="950" dirty="0">
                <a:solidFill>
                  <a:srgbClr val="94A3B8"/>
                </a:solidFill>
              </a:rPr>
              <a:t>Calculates transposition-aware string distance with common prefix bonus l (max 4) and scaling factor p = 0.1:</a:t>
            </a:r>
            <a:endParaRPr lang="en-US" sz="950" dirty="0"/>
          </a:p>
        </p:txBody>
      </p:sp>
      <p:sp>
        <p:nvSpPr>
          <p:cNvPr id="13" name="Shape 11"/>
          <p:cNvSpPr/>
          <p:nvPr/>
        </p:nvSpPr>
        <p:spPr>
          <a:xfrm>
            <a:off x="914400" y="2377440"/>
            <a:ext cx="4846320" cy="411480"/>
          </a:xfrm>
          <a:prstGeom prst="roundRect">
            <a:avLst>
              <a:gd name="adj" fmla="val 11111"/>
            </a:avLst>
          </a:prstGeom>
          <a:solidFill>
            <a:srgbClr val="111827"/>
          </a:solidFill>
          <a:ln w="12700">
            <a:solidFill>
              <a:srgbClr val="334155"/>
            </a:solidFill>
            <a:prstDash val="solid"/>
          </a:ln>
        </p:spPr>
      </p:sp>
      <p:sp>
        <p:nvSpPr>
          <p:cNvPr id="14" name="Text 12"/>
          <p:cNvSpPr/>
          <p:nvPr/>
        </p:nvSpPr>
        <p:spPr>
          <a:xfrm>
            <a:off x="1005840" y="2377440"/>
            <a:ext cx="4663440" cy="411480"/>
          </a:xfrm>
          <a:prstGeom prst="rect">
            <a:avLst/>
          </a:prstGeom>
          <a:noFill/>
          <a:ln/>
        </p:spPr>
        <p:txBody>
          <a:bodyPr wrap="square" rtlCol="0" anchor="ctr"/>
          <a:lstStyle/>
          <a:p>
            <a:pPr indent="0" marL="0">
              <a:buNone/>
            </a:pPr>
            <a:r>
              <a:rPr lang="en-US" sz="950" b="1" dirty="0">
                <a:solidFill>
                  <a:srgbClr val="38BDF8"/>
                </a:solidFill>
                <a:latin typeface="Consolas" pitchFamily="34" charset="0"/>
                <a:ea typeface="Consolas" pitchFamily="34" charset="-122"/>
                <a:cs typeface="Consolas" pitchFamily="34" charset="-120"/>
              </a:rPr>
              <a:t>Sim(s1, s2) = Jaro(s1, s2) + l * p * (1 - Jaro(s1, s2))</a:t>
            </a:r>
            <a:endParaRPr lang="en-US" sz="950" dirty="0"/>
          </a:p>
        </p:txBody>
      </p:sp>
      <p:sp>
        <p:nvSpPr>
          <p:cNvPr id="15" name="Text 13"/>
          <p:cNvSpPr/>
          <p:nvPr/>
        </p:nvSpPr>
        <p:spPr>
          <a:xfrm>
            <a:off x="914400" y="2862072"/>
            <a:ext cx="4846320" cy="640080"/>
          </a:xfrm>
          <a:prstGeom prst="rect">
            <a:avLst/>
          </a:prstGeom>
          <a:noFill/>
          <a:ln/>
        </p:spPr>
        <p:txBody>
          <a:bodyPr wrap="square" rtlCol="0" anchor="ctr"/>
          <a:lstStyle/>
          <a:p>
            <a:pPr indent="0" marL="0">
              <a:buNone/>
            </a:pPr>
            <a:r>
              <a:rPr lang="en-US" sz="900" dirty="0">
                <a:solidFill>
                  <a:srgbClr val="94A3B8"/>
                </a:solidFill>
              </a:rPr>
              <a:t>Implementation: Matches user queries with menu item names and restaurant titles even with character swaps and typos.</a:t>
            </a:r>
            <a:endParaRPr lang="en-US" sz="900" dirty="0"/>
          </a:p>
        </p:txBody>
      </p:sp>
      <p:sp>
        <p:nvSpPr>
          <p:cNvPr id="16" name="Shape 14"/>
          <p:cNvSpPr/>
          <p:nvPr/>
        </p:nvSpPr>
        <p:spPr>
          <a:xfrm>
            <a:off x="6245352" y="1508760"/>
            <a:ext cx="5212080" cy="2176272"/>
          </a:xfrm>
          <a:prstGeom prst="roundRect">
            <a:avLst>
              <a:gd name="adj" fmla="val 3361"/>
            </a:avLst>
          </a:prstGeom>
          <a:solidFill>
            <a:srgbClr val="1E293B"/>
          </a:solidFill>
          <a:ln w="12700">
            <a:solidFill>
              <a:srgbClr val="334155"/>
            </a:solidFill>
            <a:prstDash val="solid"/>
          </a:ln>
        </p:spPr>
      </p:sp>
      <p:sp>
        <p:nvSpPr>
          <p:cNvPr id="17" name="Shape 15"/>
          <p:cNvSpPr/>
          <p:nvPr/>
        </p:nvSpPr>
        <p:spPr>
          <a:xfrm>
            <a:off x="6428232" y="1645920"/>
            <a:ext cx="1463040" cy="237744"/>
          </a:xfrm>
          <a:prstGeom prst="roundRect">
            <a:avLst>
              <a:gd name="adj" fmla="val 50000"/>
            </a:avLst>
          </a:prstGeom>
          <a:solidFill>
            <a:srgbClr val="10B981">
              <a:alpha val="15000"/>
            </a:srgbClr>
          </a:solidFill>
          <a:ln w="12700">
            <a:solidFill>
              <a:srgbClr val="10B981"/>
            </a:solidFill>
            <a:prstDash val="solid"/>
          </a:ln>
        </p:spPr>
      </p:sp>
      <p:sp>
        <p:nvSpPr>
          <p:cNvPr id="18" name="Text 16"/>
          <p:cNvSpPr/>
          <p:nvPr/>
        </p:nvSpPr>
        <p:spPr>
          <a:xfrm>
            <a:off x="6428232" y="1645920"/>
            <a:ext cx="1463040" cy="237744"/>
          </a:xfrm>
          <a:prstGeom prst="rect">
            <a:avLst/>
          </a:prstGeom>
          <a:noFill/>
          <a:ln/>
        </p:spPr>
        <p:txBody>
          <a:bodyPr wrap="square" rtlCol="0" anchor="ctr"/>
          <a:lstStyle/>
          <a:p>
            <a:pPr algn="ctr" indent="0" marL="0">
              <a:buNone/>
            </a:pPr>
            <a:r>
              <a:rPr lang="en-US" sz="850" b="1" dirty="0">
                <a:solidFill>
                  <a:srgbClr val="10B981"/>
                </a:solidFill>
              </a:rPr>
              <a:t>PRICING ENGINE</a:t>
            </a:r>
            <a:endParaRPr lang="en-US" sz="850" dirty="0"/>
          </a:p>
        </p:txBody>
      </p:sp>
      <p:sp>
        <p:nvSpPr>
          <p:cNvPr id="19" name="Text 17"/>
          <p:cNvSpPr/>
          <p:nvPr/>
        </p:nvSpPr>
        <p:spPr>
          <a:xfrm>
            <a:off x="7982712" y="1618488"/>
            <a:ext cx="3291840" cy="292608"/>
          </a:xfrm>
          <a:prstGeom prst="rect">
            <a:avLst/>
          </a:prstGeom>
          <a:noFill/>
          <a:ln/>
        </p:spPr>
        <p:txBody>
          <a:bodyPr wrap="square" rtlCol="0" anchor="ctr"/>
          <a:lstStyle/>
          <a:p>
            <a:pPr indent="0" marL="0">
              <a:buNone/>
            </a:pPr>
            <a:r>
              <a:rPr lang="en-US" sz="1200" b="1" dirty="0">
                <a:solidFill>
                  <a:srgbClr val="F8FAFC"/>
                </a:solidFill>
              </a:rPr>
              <a:t>2. Cart Bill &amp; Discount Computation Engine</a:t>
            </a:r>
            <a:endParaRPr lang="en-US" sz="1200" dirty="0"/>
          </a:p>
        </p:txBody>
      </p:sp>
      <p:sp>
        <p:nvSpPr>
          <p:cNvPr id="20" name="Text 18"/>
          <p:cNvSpPr/>
          <p:nvPr/>
        </p:nvSpPr>
        <p:spPr>
          <a:xfrm>
            <a:off x="6428232" y="1965960"/>
            <a:ext cx="4846320" cy="365760"/>
          </a:xfrm>
          <a:prstGeom prst="rect">
            <a:avLst/>
          </a:prstGeom>
          <a:noFill/>
          <a:ln/>
        </p:spPr>
        <p:txBody>
          <a:bodyPr wrap="square" rtlCol="0" anchor="ctr"/>
          <a:lstStyle/>
          <a:p>
            <a:pPr indent="0" marL="0">
              <a:buNone/>
            </a:pPr>
            <a:r>
              <a:rPr lang="en-US" sz="950" dirty="0">
                <a:solidFill>
                  <a:srgbClr val="94A3B8"/>
                </a:solidFill>
              </a:rPr>
              <a:t>Deterministic multi-factor calculation computing subtotal, dynamic coupon discounts, taxes, and fees:</a:t>
            </a:r>
            <a:endParaRPr lang="en-US" sz="950" dirty="0"/>
          </a:p>
        </p:txBody>
      </p:sp>
      <p:sp>
        <p:nvSpPr>
          <p:cNvPr id="21" name="Shape 19"/>
          <p:cNvSpPr/>
          <p:nvPr/>
        </p:nvSpPr>
        <p:spPr>
          <a:xfrm>
            <a:off x="6428232" y="2377440"/>
            <a:ext cx="4846320" cy="411480"/>
          </a:xfrm>
          <a:prstGeom prst="roundRect">
            <a:avLst>
              <a:gd name="adj" fmla="val 11111"/>
            </a:avLst>
          </a:prstGeom>
          <a:solidFill>
            <a:srgbClr val="111827"/>
          </a:solidFill>
          <a:ln w="12700">
            <a:solidFill>
              <a:srgbClr val="334155"/>
            </a:solidFill>
            <a:prstDash val="solid"/>
          </a:ln>
        </p:spPr>
      </p:sp>
      <p:sp>
        <p:nvSpPr>
          <p:cNvPr id="22" name="Text 20"/>
          <p:cNvSpPr/>
          <p:nvPr/>
        </p:nvSpPr>
        <p:spPr>
          <a:xfrm>
            <a:off x="6519672" y="2377440"/>
            <a:ext cx="4663440" cy="411480"/>
          </a:xfrm>
          <a:prstGeom prst="rect">
            <a:avLst/>
          </a:prstGeom>
          <a:noFill/>
          <a:ln/>
        </p:spPr>
        <p:txBody>
          <a:bodyPr wrap="square" rtlCol="0" anchor="ctr"/>
          <a:lstStyle/>
          <a:p>
            <a:pPr indent="0" marL="0">
              <a:buNone/>
            </a:pPr>
            <a:r>
              <a:rPr lang="en-US" sz="950" b="1" dirty="0">
                <a:solidFill>
                  <a:srgbClr val="38BDF8"/>
                </a:solidFill>
                <a:latin typeface="Consolas" pitchFamily="34" charset="0"/>
                <a:ea typeface="Consolas" pitchFamily="34" charset="-122"/>
                <a:cs typeface="Consolas" pitchFamily="34" charset="-120"/>
              </a:rPr>
              <a:t>Final = Subtotal - Discount(Code, Subtotal) + (Subtotal * 0.05) + FeePlatform + FeeDelivery</a:t>
            </a:r>
            <a:endParaRPr lang="en-US" sz="950" dirty="0"/>
          </a:p>
        </p:txBody>
      </p:sp>
      <p:sp>
        <p:nvSpPr>
          <p:cNvPr id="23" name="Text 21"/>
          <p:cNvSpPr/>
          <p:nvPr/>
        </p:nvSpPr>
        <p:spPr>
          <a:xfrm>
            <a:off x="6428232" y="2862072"/>
            <a:ext cx="4846320" cy="640080"/>
          </a:xfrm>
          <a:prstGeom prst="rect">
            <a:avLst/>
          </a:prstGeom>
          <a:noFill/>
          <a:ln/>
        </p:spPr>
        <p:txBody>
          <a:bodyPr wrap="square" rtlCol="0" anchor="ctr"/>
          <a:lstStyle/>
          <a:p>
            <a:pPr indent="0" marL="0">
              <a:buNone/>
            </a:pPr>
            <a:r>
              <a:rPr lang="en-US" sz="900" dirty="0">
                <a:solidFill>
                  <a:srgbClr val="94A3B8"/>
                </a:solidFill>
              </a:rPr>
              <a:t>Implementation: Validates coupon eligibility (min order threshold, max cap, expiration date) in one atomic evaluation.</a:t>
            </a:r>
            <a:endParaRPr lang="en-US" sz="900" dirty="0"/>
          </a:p>
        </p:txBody>
      </p:sp>
      <p:sp>
        <p:nvSpPr>
          <p:cNvPr id="24" name="Shape 22"/>
          <p:cNvSpPr/>
          <p:nvPr/>
        </p:nvSpPr>
        <p:spPr>
          <a:xfrm>
            <a:off x="731520" y="3886200"/>
            <a:ext cx="5212080" cy="2176272"/>
          </a:xfrm>
          <a:prstGeom prst="roundRect">
            <a:avLst>
              <a:gd name="adj" fmla="val 3361"/>
            </a:avLst>
          </a:prstGeom>
          <a:solidFill>
            <a:srgbClr val="1E293B"/>
          </a:solidFill>
          <a:ln w="12700">
            <a:solidFill>
              <a:srgbClr val="334155"/>
            </a:solidFill>
            <a:prstDash val="solid"/>
          </a:ln>
        </p:spPr>
      </p:sp>
      <p:sp>
        <p:nvSpPr>
          <p:cNvPr id="25" name="Shape 23"/>
          <p:cNvSpPr/>
          <p:nvPr/>
        </p:nvSpPr>
        <p:spPr>
          <a:xfrm>
            <a:off x="914400" y="4023360"/>
            <a:ext cx="1463040" cy="237744"/>
          </a:xfrm>
          <a:prstGeom prst="roundRect">
            <a:avLst>
              <a:gd name="adj" fmla="val 50000"/>
            </a:avLst>
          </a:prstGeom>
          <a:solidFill>
            <a:srgbClr val="EF4444">
              <a:alpha val="15000"/>
            </a:srgbClr>
          </a:solidFill>
          <a:ln w="12700">
            <a:solidFill>
              <a:srgbClr val="EF4444"/>
            </a:solidFill>
            <a:prstDash val="solid"/>
          </a:ln>
        </p:spPr>
      </p:sp>
      <p:sp>
        <p:nvSpPr>
          <p:cNvPr id="26" name="Text 24"/>
          <p:cNvSpPr/>
          <p:nvPr/>
        </p:nvSpPr>
        <p:spPr>
          <a:xfrm>
            <a:off x="914400" y="4023360"/>
            <a:ext cx="1463040" cy="237744"/>
          </a:xfrm>
          <a:prstGeom prst="rect">
            <a:avLst/>
          </a:prstGeom>
          <a:noFill/>
          <a:ln/>
        </p:spPr>
        <p:txBody>
          <a:bodyPr wrap="square" rtlCol="0" anchor="ctr"/>
          <a:lstStyle/>
          <a:p>
            <a:pPr algn="ctr" indent="0" marL="0">
              <a:buNone/>
            </a:pPr>
            <a:r>
              <a:rPr lang="en-US" sz="850" b="1" dirty="0">
                <a:solidFill>
                  <a:srgbClr val="EF4444"/>
                </a:solidFill>
              </a:rPr>
              <a:t>ATOMICITY</a:t>
            </a:r>
            <a:endParaRPr lang="en-US" sz="850" dirty="0"/>
          </a:p>
        </p:txBody>
      </p:sp>
      <p:sp>
        <p:nvSpPr>
          <p:cNvPr id="27" name="Text 25"/>
          <p:cNvSpPr/>
          <p:nvPr/>
        </p:nvSpPr>
        <p:spPr>
          <a:xfrm>
            <a:off x="2468880" y="3995928"/>
            <a:ext cx="3291840" cy="292608"/>
          </a:xfrm>
          <a:prstGeom prst="rect">
            <a:avLst/>
          </a:prstGeom>
          <a:noFill/>
          <a:ln/>
        </p:spPr>
        <p:txBody>
          <a:bodyPr wrap="square" rtlCol="0" anchor="ctr"/>
          <a:lstStyle/>
          <a:p>
            <a:pPr indent="0" marL="0">
              <a:buNone/>
            </a:pPr>
            <a:r>
              <a:rPr lang="en-US" sz="1200" b="1" dirty="0">
                <a:solidFill>
                  <a:srgbClr val="F8FAFC"/>
                </a:solidFill>
              </a:rPr>
              <a:t>3. ACID-Compliant Order Placement Transaction</a:t>
            </a:r>
            <a:endParaRPr lang="en-US" sz="1200" dirty="0"/>
          </a:p>
        </p:txBody>
      </p:sp>
      <p:sp>
        <p:nvSpPr>
          <p:cNvPr id="28" name="Text 26"/>
          <p:cNvSpPr/>
          <p:nvPr/>
        </p:nvSpPr>
        <p:spPr>
          <a:xfrm>
            <a:off x="914400" y="4343400"/>
            <a:ext cx="4846320" cy="365760"/>
          </a:xfrm>
          <a:prstGeom prst="rect">
            <a:avLst/>
          </a:prstGeom>
          <a:noFill/>
          <a:ln/>
        </p:spPr>
        <p:txBody>
          <a:bodyPr wrap="square" rtlCol="0" anchor="ctr"/>
          <a:lstStyle/>
          <a:p>
            <a:pPr indent="0" marL="0">
              <a:buNone/>
            </a:pPr>
            <a:r>
              <a:rPr lang="en-US" sz="950" dirty="0">
                <a:solidFill>
                  <a:srgbClr val="94A3B8"/>
                </a:solidFill>
              </a:rPr>
              <a:t>Multi-query transactional commit locking rows to prevent race conditions during checkout:</a:t>
            </a:r>
            <a:endParaRPr lang="en-US" sz="950" dirty="0"/>
          </a:p>
        </p:txBody>
      </p:sp>
      <p:sp>
        <p:nvSpPr>
          <p:cNvPr id="29" name="Shape 27"/>
          <p:cNvSpPr/>
          <p:nvPr/>
        </p:nvSpPr>
        <p:spPr>
          <a:xfrm>
            <a:off x="914400" y="4754880"/>
            <a:ext cx="4846320" cy="411480"/>
          </a:xfrm>
          <a:prstGeom prst="roundRect">
            <a:avLst>
              <a:gd name="adj" fmla="val 11111"/>
            </a:avLst>
          </a:prstGeom>
          <a:solidFill>
            <a:srgbClr val="111827"/>
          </a:solidFill>
          <a:ln w="12700">
            <a:solidFill>
              <a:srgbClr val="334155"/>
            </a:solidFill>
            <a:prstDash val="solid"/>
          </a:ln>
        </p:spPr>
      </p:sp>
      <p:sp>
        <p:nvSpPr>
          <p:cNvPr id="30" name="Text 28"/>
          <p:cNvSpPr/>
          <p:nvPr/>
        </p:nvSpPr>
        <p:spPr>
          <a:xfrm>
            <a:off x="1005840" y="4754880"/>
            <a:ext cx="4663440" cy="411480"/>
          </a:xfrm>
          <a:prstGeom prst="rect">
            <a:avLst/>
          </a:prstGeom>
          <a:noFill/>
          <a:ln/>
        </p:spPr>
        <p:txBody>
          <a:bodyPr wrap="square" rtlCol="0" anchor="ctr"/>
          <a:lstStyle/>
          <a:p>
            <a:pPr indent="0" marL="0">
              <a:buNone/>
            </a:pPr>
            <a:r>
              <a:rPr lang="en-US" sz="950" b="1" dirty="0">
                <a:solidFill>
                  <a:srgbClr val="38BDF8"/>
                </a:solidFill>
                <a:latin typeface="Consolas" pitchFamily="34" charset="0"/>
                <a:ea typeface="Consolas" pitchFamily="34" charset="-122"/>
                <a:cs typeface="Consolas" pitchFamily="34" charset="-120"/>
              </a:rPr>
              <a:t>START TRANSACTION -&gt; INSERT order -&gt; INSERT order_items -&gt; DEDUCT coupon -&gt; COMMIT</a:t>
            </a:r>
            <a:endParaRPr lang="en-US" sz="950" dirty="0"/>
          </a:p>
        </p:txBody>
      </p:sp>
      <p:sp>
        <p:nvSpPr>
          <p:cNvPr id="31" name="Text 29"/>
          <p:cNvSpPr/>
          <p:nvPr/>
        </p:nvSpPr>
        <p:spPr>
          <a:xfrm>
            <a:off x="914400" y="5239512"/>
            <a:ext cx="4846320" cy="640080"/>
          </a:xfrm>
          <a:prstGeom prst="rect">
            <a:avLst/>
          </a:prstGeom>
          <a:noFill/>
          <a:ln/>
        </p:spPr>
        <p:txBody>
          <a:bodyPr wrap="square" rtlCol="0" anchor="ctr"/>
          <a:lstStyle/>
          <a:p>
            <a:pPr indent="0" marL="0">
              <a:buNone/>
            </a:pPr>
            <a:r>
              <a:rPr lang="en-US" sz="900" dirty="0">
                <a:solidFill>
                  <a:srgbClr val="94A3B8"/>
                </a:solidFill>
              </a:rPr>
              <a:t>Implementation: Java JDBC transaction: con.setAutoCommit(false), atomic multi-table execution, and con.rollback() on failure.</a:t>
            </a:r>
            <a:endParaRPr lang="en-US" sz="900" dirty="0"/>
          </a:p>
        </p:txBody>
      </p:sp>
      <p:sp>
        <p:nvSpPr>
          <p:cNvPr id="32" name="Shape 30"/>
          <p:cNvSpPr/>
          <p:nvPr/>
        </p:nvSpPr>
        <p:spPr>
          <a:xfrm>
            <a:off x="6245352" y="3886200"/>
            <a:ext cx="5212080" cy="2176272"/>
          </a:xfrm>
          <a:prstGeom prst="roundRect">
            <a:avLst>
              <a:gd name="adj" fmla="val 3361"/>
            </a:avLst>
          </a:prstGeom>
          <a:solidFill>
            <a:srgbClr val="1E293B"/>
          </a:solidFill>
          <a:ln w="12700">
            <a:solidFill>
              <a:srgbClr val="334155"/>
            </a:solidFill>
            <a:prstDash val="solid"/>
          </a:ln>
        </p:spPr>
      </p:sp>
      <p:sp>
        <p:nvSpPr>
          <p:cNvPr id="33" name="Shape 31"/>
          <p:cNvSpPr/>
          <p:nvPr/>
        </p:nvSpPr>
        <p:spPr>
          <a:xfrm>
            <a:off x="6428232" y="4023360"/>
            <a:ext cx="1463040" cy="237744"/>
          </a:xfrm>
          <a:prstGeom prst="roundRect">
            <a:avLst>
              <a:gd name="adj" fmla="val 50000"/>
            </a:avLst>
          </a:prstGeom>
          <a:solidFill>
            <a:srgbClr val="F59E0B">
              <a:alpha val="15000"/>
            </a:srgbClr>
          </a:solidFill>
          <a:ln w="12700">
            <a:solidFill>
              <a:srgbClr val="F59E0B"/>
            </a:solidFill>
            <a:prstDash val="solid"/>
          </a:ln>
        </p:spPr>
      </p:sp>
      <p:sp>
        <p:nvSpPr>
          <p:cNvPr id="34" name="Text 32"/>
          <p:cNvSpPr/>
          <p:nvPr/>
        </p:nvSpPr>
        <p:spPr>
          <a:xfrm>
            <a:off x="6428232" y="4023360"/>
            <a:ext cx="1463040" cy="237744"/>
          </a:xfrm>
          <a:prstGeom prst="rect">
            <a:avLst/>
          </a:prstGeom>
          <a:noFill/>
          <a:ln/>
        </p:spPr>
        <p:txBody>
          <a:bodyPr wrap="square" rtlCol="0" anchor="ctr"/>
          <a:lstStyle/>
          <a:p>
            <a:pPr algn="ctr" indent="0" marL="0">
              <a:buNone/>
            </a:pPr>
            <a:r>
              <a:rPr lang="en-US" sz="850" b="1" dirty="0">
                <a:solidFill>
                  <a:srgbClr val="F59E0B"/>
                </a:solidFill>
              </a:rPr>
              <a:t>NLP CLASSIFIER</a:t>
            </a:r>
            <a:endParaRPr lang="en-US" sz="850" dirty="0"/>
          </a:p>
        </p:txBody>
      </p:sp>
      <p:sp>
        <p:nvSpPr>
          <p:cNvPr id="35" name="Text 33"/>
          <p:cNvSpPr/>
          <p:nvPr/>
        </p:nvSpPr>
        <p:spPr>
          <a:xfrm>
            <a:off x="7982712" y="3995928"/>
            <a:ext cx="3291840" cy="292608"/>
          </a:xfrm>
          <a:prstGeom prst="rect">
            <a:avLst/>
          </a:prstGeom>
          <a:noFill/>
          <a:ln/>
        </p:spPr>
        <p:txBody>
          <a:bodyPr wrap="square" rtlCol="0" anchor="ctr"/>
          <a:lstStyle/>
          <a:p>
            <a:pPr indent="0" marL="0">
              <a:buNone/>
            </a:pPr>
            <a:r>
              <a:rPr lang="en-US" sz="1200" b="1" dirty="0">
                <a:solidFill>
                  <a:srgbClr val="F8FAFC"/>
                </a:solidFill>
              </a:rPr>
              <a:t>4. 25-Intent Rule-Based NLP Classification</a:t>
            </a:r>
            <a:endParaRPr lang="en-US" sz="1200" dirty="0"/>
          </a:p>
        </p:txBody>
      </p:sp>
      <p:sp>
        <p:nvSpPr>
          <p:cNvPr id="36" name="Text 34"/>
          <p:cNvSpPr/>
          <p:nvPr/>
        </p:nvSpPr>
        <p:spPr>
          <a:xfrm>
            <a:off x="6428232" y="4343400"/>
            <a:ext cx="4846320" cy="365760"/>
          </a:xfrm>
          <a:prstGeom prst="rect">
            <a:avLst/>
          </a:prstGeom>
          <a:noFill/>
          <a:ln/>
        </p:spPr>
        <p:txBody>
          <a:bodyPr wrap="square" rtlCol="0" anchor="ctr"/>
          <a:lstStyle/>
          <a:p>
            <a:pPr indent="0" marL="0">
              <a:buNone/>
            </a:pPr>
            <a:r>
              <a:rPr lang="en-US" sz="950" dirty="0">
                <a:solidFill>
                  <a:srgbClr val="94A3B8"/>
                </a:solidFill>
              </a:rPr>
              <a:t>Tokenizes user messages, performs regex-weighted pattern matching, and extracts parameter slots:</a:t>
            </a:r>
            <a:endParaRPr lang="en-US" sz="950" dirty="0"/>
          </a:p>
        </p:txBody>
      </p:sp>
      <p:sp>
        <p:nvSpPr>
          <p:cNvPr id="37" name="Shape 35"/>
          <p:cNvSpPr/>
          <p:nvPr/>
        </p:nvSpPr>
        <p:spPr>
          <a:xfrm>
            <a:off x="6428232" y="4754880"/>
            <a:ext cx="4846320" cy="411480"/>
          </a:xfrm>
          <a:prstGeom prst="roundRect">
            <a:avLst>
              <a:gd name="adj" fmla="val 11111"/>
            </a:avLst>
          </a:prstGeom>
          <a:solidFill>
            <a:srgbClr val="111827"/>
          </a:solidFill>
          <a:ln w="12700">
            <a:solidFill>
              <a:srgbClr val="334155"/>
            </a:solidFill>
            <a:prstDash val="solid"/>
          </a:ln>
        </p:spPr>
      </p:sp>
      <p:sp>
        <p:nvSpPr>
          <p:cNvPr id="38" name="Text 36"/>
          <p:cNvSpPr/>
          <p:nvPr/>
        </p:nvSpPr>
        <p:spPr>
          <a:xfrm>
            <a:off x="6519672" y="4754880"/>
            <a:ext cx="4663440" cy="411480"/>
          </a:xfrm>
          <a:prstGeom prst="rect">
            <a:avLst/>
          </a:prstGeom>
          <a:noFill/>
          <a:ln/>
        </p:spPr>
        <p:txBody>
          <a:bodyPr wrap="square" rtlCol="0" anchor="ctr"/>
          <a:lstStyle/>
          <a:p>
            <a:pPr indent="0" marL="0">
              <a:buNone/>
            </a:pPr>
            <a:r>
              <a:rPr lang="en-US" sz="950" b="1" dirty="0">
                <a:solidFill>
                  <a:srgbClr val="38BDF8"/>
                </a:solidFill>
                <a:latin typeface="Consolas" pitchFamily="34" charset="0"/>
                <a:ea typeface="Consolas" pitchFamily="34" charset="-122"/>
                <a:cs typeface="Consolas" pitchFamily="34" charset="-120"/>
              </a:rPr>
              <a:t>Intent = argmax_i (Score(Pattern_i, Message)) with Slot Extraction [OrderID, Phone, Dish]</a:t>
            </a:r>
            <a:endParaRPr lang="en-US" sz="950" dirty="0"/>
          </a:p>
        </p:txBody>
      </p:sp>
      <p:sp>
        <p:nvSpPr>
          <p:cNvPr id="39" name="Text 37"/>
          <p:cNvSpPr/>
          <p:nvPr/>
        </p:nvSpPr>
        <p:spPr>
          <a:xfrm>
            <a:off x="6428232" y="5239512"/>
            <a:ext cx="4846320" cy="640080"/>
          </a:xfrm>
          <a:prstGeom prst="rect">
            <a:avLst/>
          </a:prstGeom>
          <a:noFill/>
          <a:ln/>
        </p:spPr>
        <p:txBody>
          <a:bodyPr wrap="square" rtlCol="0" anchor="ctr"/>
          <a:lstStyle/>
          <a:p>
            <a:pPr indent="0" marL="0">
              <a:buNone/>
            </a:pPr>
            <a:r>
              <a:rPr lang="en-US" sz="900" dirty="0">
                <a:solidFill>
                  <a:srgbClr val="94A3B8"/>
                </a:solidFill>
              </a:rPr>
              <a:t>Implementation: Routes message to instant responses (tracking, cancellation, menu) or triggers agent escalation ticket.</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8</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Major Engineering Challenge &amp; Solution</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Architectural breakdown of WhatsApp Cloud API integration, webhook authentication, and fallback resilience</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731520" y="1508760"/>
            <a:ext cx="5212080" cy="4389120"/>
          </a:xfrm>
          <a:prstGeom prst="roundRect">
            <a:avLst>
              <a:gd name="adj" fmla="val 1667"/>
            </a:avLst>
          </a:prstGeom>
          <a:solidFill>
            <a:srgbClr val="1E293B"/>
          </a:solidFill>
          <a:ln w="19050">
            <a:solidFill>
              <a:srgbClr val="EF4444"/>
            </a:solidFill>
            <a:prstDash val="solid"/>
          </a:ln>
        </p:spPr>
      </p:sp>
      <p:sp>
        <p:nvSpPr>
          <p:cNvPr id="9" name="Text 7"/>
          <p:cNvSpPr/>
          <p:nvPr/>
        </p:nvSpPr>
        <p:spPr>
          <a:xfrm>
            <a:off x="960120" y="1691640"/>
            <a:ext cx="4754880" cy="320040"/>
          </a:xfrm>
          <a:prstGeom prst="rect">
            <a:avLst/>
          </a:prstGeom>
          <a:noFill/>
          <a:ln/>
        </p:spPr>
        <p:txBody>
          <a:bodyPr wrap="square" rtlCol="0" anchor="ctr"/>
          <a:lstStyle/>
          <a:p>
            <a:pPr indent="0" marL="0">
              <a:buNone/>
            </a:pPr>
            <a:r>
              <a:rPr lang="en-US" sz="1600" b="1" dirty="0">
                <a:solidFill>
                  <a:srgbClr val="EF4444"/>
                </a:solidFill>
              </a:rPr>
              <a:t>⚠️ The Technical Challenge</a:t>
            </a:r>
            <a:endParaRPr lang="en-US" sz="1600" dirty="0"/>
          </a:p>
        </p:txBody>
      </p:sp>
      <p:sp>
        <p:nvSpPr>
          <p:cNvPr id="10" name="Text 8"/>
          <p:cNvSpPr/>
          <p:nvPr/>
        </p:nvSpPr>
        <p:spPr>
          <a:xfrm>
            <a:off x="960120" y="2103120"/>
            <a:ext cx="4754880" cy="228600"/>
          </a:xfrm>
          <a:prstGeom prst="rect">
            <a:avLst/>
          </a:prstGeom>
          <a:noFill/>
          <a:ln/>
        </p:spPr>
        <p:txBody>
          <a:bodyPr wrap="square" rtlCol="0" anchor="ctr"/>
          <a:lstStyle/>
          <a:p>
            <a:pPr indent="0" marL="0">
              <a:buNone/>
            </a:pPr>
            <a:r>
              <a:rPr lang="en-US" sz="1100" b="1" dirty="0">
                <a:solidFill>
                  <a:srgbClr val="F8FAFC"/>
                </a:solidFill>
              </a:rPr>
              <a:t>Meta Cloud API 24-Hour Messaging Window</a:t>
            </a:r>
            <a:endParaRPr lang="en-US" sz="1100" dirty="0"/>
          </a:p>
        </p:txBody>
      </p:sp>
      <p:sp>
        <p:nvSpPr>
          <p:cNvPr id="11" name="Text 9"/>
          <p:cNvSpPr/>
          <p:nvPr/>
        </p:nvSpPr>
        <p:spPr>
          <a:xfrm>
            <a:off x="960120" y="2331720"/>
            <a:ext cx="4754880" cy="658368"/>
          </a:xfrm>
          <a:prstGeom prst="rect">
            <a:avLst/>
          </a:prstGeom>
          <a:noFill/>
          <a:ln/>
        </p:spPr>
        <p:txBody>
          <a:bodyPr wrap="square" rtlCol="0" anchor="ctr"/>
          <a:lstStyle/>
          <a:p>
            <a:pPr indent="0" marL="0">
              <a:buNone/>
            </a:pPr>
            <a:r>
              <a:rPr lang="en-US" sz="950" dirty="0">
                <a:solidFill>
                  <a:srgbClr val="94A3B8"/>
                </a:solidFill>
              </a:rPr>
              <a:t>WhatsApp Cloud API enforces a strict 24-hour service window. Outbound automated messages cannot reach users unless user-initiated within the timeframe or registered as approved business templates.</a:t>
            </a:r>
            <a:endParaRPr lang="en-US" sz="950" dirty="0"/>
          </a:p>
        </p:txBody>
      </p:sp>
      <p:sp>
        <p:nvSpPr>
          <p:cNvPr id="12" name="Text 10"/>
          <p:cNvSpPr/>
          <p:nvPr/>
        </p:nvSpPr>
        <p:spPr>
          <a:xfrm>
            <a:off x="960120" y="3108960"/>
            <a:ext cx="4754880" cy="228600"/>
          </a:xfrm>
          <a:prstGeom prst="rect">
            <a:avLst/>
          </a:prstGeom>
          <a:noFill/>
          <a:ln/>
        </p:spPr>
        <p:txBody>
          <a:bodyPr wrap="square" rtlCol="0" anchor="ctr"/>
          <a:lstStyle/>
          <a:p>
            <a:pPr indent="0" marL="0">
              <a:buNone/>
            </a:pPr>
            <a:r>
              <a:rPr lang="en-US" sz="1100" b="1" dirty="0">
                <a:solidFill>
                  <a:srgbClr val="F8FAFC"/>
                </a:solidFill>
              </a:rPr>
              <a:t>Servlet Stream Consumption &amp; HMAC-SHA256 Verification</a:t>
            </a:r>
            <a:endParaRPr lang="en-US" sz="1100" dirty="0"/>
          </a:p>
        </p:txBody>
      </p:sp>
      <p:sp>
        <p:nvSpPr>
          <p:cNvPr id="13" name="Text 11"/>
          <p:cNvSpPr/>
          <p:nvPr/>
        </p:nvSpPr>
        <p:spPr>
          <a:xfrm>
            <a:off x="960120" y="3337560"/>
            <a:ext cx="4754880" cy="658368"/>
          </a:xfrm>
          <a:prstGeom prst="rect">
            <a:avLst/>
          </a:prstGeom>
          <a:noFill/>
          <a:ln/>
        </p:spPr>
        <p:txBody>
          <a:bodyPr wrap="square" rtlCol="0" anchor="ctr"/>
          <a:lstStyle/>
          <a:p>
            <a:pPr indent="0" marL="0">
              <a:buNone/>
            </a:pPr>
            <a:r>
              <a:rPr lang="en-US" sz="950" dirty="0">
                <a:solidFill>
                  <a:srgbClr val="94A3B8"/>
                </a:solidFill>
              </a:rPr>
              <a:t>Incoming payment &amp; webhook payloads require raw cryptographic signature verification (HMAC-SHA256). In standard Java Servlets, reading getInputStream() consumes the stream, preventing downstream parameter parsing.</a:t>
            </a:r>
            <a:endParaRPr lang="en-US" sz="950" dirty="0"/>
          </a:p>
        </p:txBody>
      </p:sp>
      <p:sp>
        <p:nvSpPr>
          <p:cNvPr id="14" name="Text 12"/>
          <p:cNvSpPr/>
          <p:nvPr/>
        </p:nvSpPr>
        <p:spPr>
          <a:xfrm>
            <a:off x="960120" y="4114800"/>
            <a:ext cx="4754880" cy="228600"/>
          </a:xfrm>
          <a:prstGeom prst="rect">
            <a:avLst/>
          </a:prstGeom>
          <a:noFill/>
          <a:ln/>
        </p:spPr>
        <p:txBody>
          <a:bodyPr wrap="square" rtlCol="0" anchor="ctr"/>
          <a:lstStyle/>
          <a:p>
            <a:pPr indent="0" marL="0">
              <a:buNone/>
            </a:pPr>
            <a:r>
              <a:rPr lang="en-US" sz="1100" b="1" dirty="0">
                <a:solidFill>
                  <a:srgbClr val="F8FAFC"/>
                </a:solidFill>
              </a:rPr>
              <a:t>Transient Tunnel Drops During Demos</a:t>
            </a:r>
            <a:endParaRPr lang="en-US" sz="1100" dirty="0"/>
          </a:p>
        </p:txBody>
      </p:sp>
      <p:sp>
        <p:nvSpPr>
          <p:cNvPr id="15" name="Text 13"/>
          <p:cNvSpPr/>
          <p:nvPr/>
        </p:nvSpPr>
        <p:spPr>
          <a:xfrm>
            <a:off x="960120" y="4343400"/>
            <a:ext cx="4754880" cy="658368"/>
          </a:xfrm>
          <a:prstGeom prst="rect">
            <a:avLst/>
          </a:prstGeom>
          <a:noFill/>
          <a:ln/>
        </p:spPr>
        <p:txBody>
          <a:bodyPr wrap="square" rtlCol="0" anchor="ctr"/>
          <a:lstStyle/>
          <a:p>
            <a:pPr indent="0" marL="0">
              <a:buNone/>
            </a:pPr>
            <a:r>
              <a:rPr lang="en-US" sz="950" dirty="0">
                <a:solidFill>
                  <a:srgbClr val="94A3B8"/>
                </a:solidFill>
              </a:rPr>
              <a:t>Local development tunnels (Cloudflare) occasionally reset connection hostnames, severing the webhook callback endpoint during live evaluative demonstrations.</a:t>
            </a:r>
            <a:endParaRPr lang="en-US" sz="950" dirty="0"/>
          </a:p>
        </p:txBody>
      </p:sp>
      <p:sp>
        <p:nvSpPr>
          <p:cNvPr id="16" name="Shape 14"/>
          <p:cNvSpPr/>
          <p:nvPr/>
        </p:nvSpPr>
        <p:spPr>
          <a:xfrm>
            <a:off x="6245352" y="1508760"/>
            <a:ext cx="5212080" cy="4389120"/>
          </a:xfrm>
          <a:prstGeom prst="roundRect">
            <a:avLst>
              <a:gd name="adj" fmla="val 1667"/>
            </a:avLst>
          </a:prstGeom>
          <a:solidFill>
            <a:srgbClr val="1E293B"/>
          </a:solidFill>
          <a:ln w="19050">
            <a:solidFill>
              <a:srgbClr val="10B981"/>
            </a:solidFill>
            <a:prstDash val="solid"/>
          </a:ln>
        </p:spPr>
      </p:sp>
      <p:sp>
        <p:nvSpPr>
          <p:cNvPr id="17" name="Text 15"/>
          <p:cNvSpPr/>
          <p:nvPr/>
        </p:nvSpPr>
        <p:spPr>
          <a:xfrm>
            <a:off x="6473952" y="1691640"/>
            <a:ext cx="4754880" cy="320040"/>
          </a:xfrm>
          <a:prstGeom prst="rect">
            <a:avLst/>
          </a:prstGeom>
          <a:noFill/>
          <a:ln/>
        </p:spPr>
        <p:txBody>
          <a:bodyPr wrap="square" rtlCol="0" anchor="ctr"/>
          <a:lstStyle/>
          <a:p>
            <a:pPr indent="0" marL="0">
              <a:buNone/>
            </a:pPr>
            <a:r>
              <a:rPr lang="en-US" sz="1600" b="1" dirty="0">
                <a:solidFill>
                  <a:srgbClr val="10B981"/>
                </a:solidFill>
              </a:rPr>
              <a:t>✅ Architectural Solution &amp; Dual-Channel Resilience</a:t>
            </a:r>
            <a:endParaRPr lang="en-US" sz="1600" dirty="0"/>
          </a:p>
        </p:txBody>
      </p:sp>
      <p:sp>
        <p:nvSpPr>
          <p:cNvPr id="18" name="Text 16"/>
          <p:cNvSpPr/>
          <p:nvPr/>
        </p:nvSpPr>
        <p:spPr>
          <a:xfrm>
            <a:off x="6473952" y="2103120"/>
            <a:ext cx="4754880" cy="228600"/>
          </a:xfrm>
          <a:prstGeom prst="rect">
            <a:avLst/>
          </a:prstGeom>
          <a:noFill/>
          <a:ln/>
        </p:spPr>
        <p:txBody>
          <a:bodyPr wrap="square" rtlCol="0" anchor="ctr"/>
          <a:lstStyle/>
          <a:p>
            <a:pPr indent="0" marL="0">
              <a:buNone/>
            </a:pPr>
            <a:r>
              <a:rPr lang="en-US" sz="1100" b="1" dirty="0">
                <a:solidFill>
                  <a:srgbClr val="F8FAFC"/>
                </a:solidFill>
              </a:rPr>
              <a:t>Dual-Channel Architecture (WhatsApp + Web AI Widget)</a:t>
            </a:r>
            <a:endParaRPr lang="en-US" sz="1100" dirty="0"/>
          </a:p>
        </p:txBody>
      </p:sp>
      <p:sp>
        <p:nvSpPr>
          <p:cNvPr id="19" name="Text 17"/>
          <p:cNvSpPr/>
          <p:nvPr/>
        </p:nvSpPr>
        <p:spPr>
          <a:xfrm>
            <a:off x="6473952" y="2331720"/>
            <a:ext cx="4754880" cy="658368"/>
          </a:xfrm>
          <a:prstGeom prst="rect">
            <a:avLst/>
          </a:prstGeom>
          <a:noFill/>
          <a:ln/>
        </p:spPr>
        <p:txBody>
          <a:bodyPr wrap="square" rtlCol="0" anchor="ctr"/>
          <a:lstStyle/>
          <a:p>
            <a:pPr indent="0" marL="0">
              <a:buNone/>
            </a:pPr>
            <a:r>
              <a:rPr lang="en-US" sz="950" dirty="0">
                <a:solidFill>
                  <a:srgbClr val="94A3B8"/>
                </a:solidFill>
              </a:rPr>
              <a:t>Decoupled the AI intelligence layer into a shared standalone service. When WhatsApp API token expires or tunnel drops, the in-browser floating AI widget (#foodwalaHelpModal) provides 100% identical response capabilities.</a:t>
            </a:r>
            <a:endParaRPr lang="en-US" sz="950" dirty="0"/>
          </a:p>
        </p:txBody>
      </p:sp>
      <p:sp>
        <p:nvSpPr>
          <p:cNvPr id="20" name="Text 18"/>
          <p:cNvSpPr/>
          <p:nvPr/>
        </p:nvSpPr>
        <p:spPr>
          <a:xfrm>
            <a:off x="6473952" y="3108960"/>
            <a:ext cx="4754880" cy="228600"/>
          </a:xfrm>
          <a:prstGeom prst="rect">
            <a:avLst/>
          </a:prstGeom>
          <a:noFill/>
          <a:ln/>
        </p:spPr>
        <p:txBody>
          <a:bodyPr wrap="square" rtlCol="0" anchor="ctr"/>
          <a:lstStyle/>
          <a:p>
            <a:pPr indent="0" marL="0">
              <a:buNone/>
            </a:pPr>
            <a:r>
              <a:rPr lang="en-US" sz="1100" b="1" dirty="0">
                <a:solidFill>
                  <a:srgbClr val="F8FAFC"/>
                </a:solidFill>
              </a:rPr>
              <a:t>Custom CachedHttpServletRequestWrapper (Filter Pattern)</a:t>
            </a:r>
            <a:endParaRPr lang="en-US" sz="1100" dirty="0"/>
          </a:p>
        </p:txBody>
      </p:sp>
      <p:sp>
        <p:nvSpPr>
          <p:cNvPr id="21" name="Text 19"/>
          <p:cNvSpPr/>
          <p:nvPr/>
        </p:nvSpPr>
        <p:spPr>
          <a:xfrm>
            <a:off x="6473952" y="3337560"/>
            <a:ext cx="4754880" cy="658368"/>
          </a:xfrm>
          <a:prstGeom prst="rect">
            <a:avLst/>
          </a:prstGeom>
          <a:noFill/>
          <a:ln/>
        </p:spPr>
        <p:txBody>
          <a:bodyPr wrap="square" rtlCol="0" anchor="ctr"/>
          <a:lstStyle/>
          <a:p>
            <a:pPr indent="0" marL="0">
              <a:buNone/>
            </a:pPr>
            <a:r>
              <a:rPr lang="en-US" sz="950" dirty="0">
                <a:solidFill>
                  <a:srgbClr val="94A3B8"/>
                </a:solidFill>
              </a:rPr>
              <a:t>Engineered a Servlet Filter implementing HttpServletRequestWrapper to cache the raw byte stream in memory, enabling both HMAC-SHA256 crypto validation and JSON parameter extraction without stream exhaustion.</a:t>
            </a:r>
            <a:endParaRPr lang="en-US" sz="950" dirty="0"/>
          </a:p>
        </p:txBody>
      </p:sp>
      <p:sp>
        <p:nvSpPr>
          <p:cNvPr id="22" name="Text 20"/>
          <p:cNvSpPr/>
          <p:nvPr/>
        </p:nvSpPr>
        <p:spPr>
          <a:xfrm>
            <a:off x="6473952" y="4114800"/>
            <a:ext cx="4754880" cy="228600"/>
          </a:xfrm>
          <a:prstGeom prst="rect">
            <a:avLst/>
          </a:prstGeom>
          <a:noFill/>
          <a:ln/>
        </p:spPr>
        <p:txBody>
          <a:bodyPr wrap="square" rtlCol="0" anchor="ctr"/>
          <a:lstStyle/>
          <a:p>
            <a:pPr indent="0" marL="0">
              <a:buNone/>
            </a:pPr>
            <a:r>
              <a:rPr lang="en-US" sz="1100" b="1" dirty="0">
                <a:solidFill>
                  <a:srgbClr val="F8FAFC"/>
                </a:solidFill>
              </a:rPr>
              <a:t>Self-Healing Cloudflare Tunnel Scripting</a:t>
            </a:r>
            <a:endParaRPr lang="en-US" sz="1100" dirty="0"/>
          </a:p>
        </p:txBody>
      </p:sp>
      <p:sp>
        <p:nvSpPr>
          <p:cNvPr id="23" name="Text 21"/>
          <p:cNvSpPr/>
          <p:nvPr/>
        </p:nvSpPr>
        <p:spPr>
          <a:xfrm>
            <a:off x="6473952" y="4343400"/>
            <a:ext cx="4754880" cy="658368"/>
          </a:xfrm>
          <a:prstGeom prst="rect">
            <a:avLst/>
          </a:prstGeom>
          <a:noFill/>
          <a:ln/>
        </p:spPr>
        <p:txBody>
          <a:bodyPr wrap="square" rtlCol="0" anchor="ctr"/>
          <a:lstStyle/>
          <a:p>
            <a:pPr indent="0" marL="0">
              <a:buNone/>
            </a:pPr>
            <a:r>
              <a:rPr lang="en-US" sz="950" dirty="0">
                <a:solidFill>
                  <a:srgbClr val="94A3B8"/>
                </a:solidFill>
              </a:rPr>
              <a:t>Automated background watchdog daemon monitoring tunnel health and dynamically updating webhook callback routing without server restarts.</a:t>
            </a:r>
            <a:endParaRPr lang="en-US" sz="950" dirty="0"/>
          </a:p>
        </p:txBody>
      </p:sp>
      <p:sp>
        <p:nvSpPr>
          <p:cNvPr id="24" name="Text 22"/>
          <p:cNvSpPr/>
          <p:nvPr/>
        </p:nvSpPr>
        <p:spPr>
          <a:xfrm>
            <a:off x="731520" y="6108192"/>
            <a:ext cx="10725912" cy="274320"/>
          </a:xfrm>
          <a:prstGeom prst="rect">
            <a:avLst/>
          </a:prstGeom>
          <a:noFill/>
          <a:ln/>
        </p:spPr>
        <p:txBody>
          <a:bodyPr wrap="square" rtlCol="0" anchor="ctr"/>
          <a:lstStyle/>
          <a:p>
            <a:pPr algn="ctr" indent="0" marL="0">
              <a:buNone/>
            </a:pPr>
            <a:r>
              <a:rPr lang="en-US" sz="1000" b="1" dirty="0">
                <a:solidFill>
                  <a:srgbClr val="10B981"/>
                </a:solidFill>
              </a:rPr>
              <a:t>Result: Zero downtime for end users • Instant fallback to browser AI desk if WhatsApp Cloud API is inaccessible.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2011680" cy="292608"/>
          </a:xfrm>
          <a:prstGeom prst="roundRect">
            <a:avLst>
              <a:gd name="adj" fmla="val 50000"/>
            </a:avLst>
          </a:prstGeom>
          <a:solidFill>
            <a:srgbClr val="EF4444">
              <a:alpha val="15000"/>
            </a:srgbClr>
          </a:solidFill>
          <a:ln w="12700">
            <a:solidFill>
              <a:srgbClr val="EF4444"/>
            </a:solidFill>
            <a:prstDash val="solid"/>
          </a:ln>
        </p:spPr>
      </p:sp>
      <p:sp>
        <p:nvSpPr>
          <p:cNvPr id="3" name="Text 1"/>
          <p:cNvSpPr/>
          <p:nvPr/>
        </p:nvSpPr>
        <p:spPr>
          <a:xfrm>
            <a:off x="731520" y="320040"/>
            <a:ext cx="2011680" cy="292608"/>
          </a:xfrm>
          <a:prstGeom prst="rect">
            <a:avLst/>
          </a:prstGeom>
          <a:noFill/>
          <a:ln/>
        </p:spPr>
        <p:txBody>
          <a:bodyPr wrap="square" rtlCol="0" anchor="ctr"/>
          <a:lstStyle/>
          <a:p>
            <a:pPr algn="ctr" indent="0" marL="0">
              <a:buNone/>
            </a:pPr>
            <a:r>
              <a:rPr lang="en-US" sz="1000" b="1" dirty="0">
                <a:solidFill>
                  <a:srgbClr val="EF4444"/>
                </a:solidFill>
              </a:rPr>
              <a:t>SECTION 9</a:t>
            </a:r>
            <a:endParaRPr lang="en-US" sz="1000" dirty="0"/>
          </a:p>
        </p:txBody>
      </p:sp>
      <p:sp>
        <p:nvSpPr>
          <p:cNvPr id="4" name="Text 2"/>
          <p:cNvSpPr/>
          <p:nvPr/>
        </p:nvSpPr>
        <p:spPr>
          <a:xfrm>
            <a:off x="731520" y="658368"/>
            <a:ext cx="10725912" cy="457200"/>
          </a:xfrm>
          <a:prstGeom prst="rect">
            <a:avLst/>
          </a:prstGeom>
          <a:noFill/>
          <a:ln/>
        </p:spPr>
        <p:txBody>
          <a:bodyPr wrap="square" rtlCol="0" anchor="ctr"/>
          <a:lstStyle/>
          <a:p>
            <a:pPr indent="0" marL="0">
              <a:buNone/>
            </a:pPr>
            <a:r>
              <a:rPr lang="en-US" sz="2200" b="1" dirty="0">
                <a:solidFill>
                  <a:srgbClr val="F8FAFC"/>
                </a:solidFill>
              </a:rPr>
              <a:t>Future Enhancements &amp; Platform Roadmap</a:t>
            </a:r>
            <a:endParaRPr lang="en-US" sz="2200" dirty="0"/>
          </a:p>
        </p:txBody>
      </p:sp>
      <p:sp>
        <p:nvSpPr>
          <p:cNvPr id="5" name="Text 3"/>
          <p:cNvSpPr/>
          <p:nvPr/>
        </p:nvSpPr>
        <p:spPr>
          <a:xfrm>
            <a:off x="731520" y="1115568"/>
            <a:ext cx="10725912" cy="320040"/>
          </a:xfrm>
          <a:prstGeom prst="rect">
            <a:avLst/>
          </a:prstGeom>
          <a:noFill/>
          <a:ln/>
        </p:spPr>
        <p:txBody>
          <a:bodyPr wrap="square" rtlCol="0" anchor="ctr"/>
          <a:lstStyle/>
          <a:p>
            <a:pPr indent="0" marL="0">
              <a:buNone/>
            </a:pPr>
            <a:r>
              <a:rPr lang="en-US" sz="1200" dirty="0">
                <a:solidFill>
                  <a:srgbClr val="94A3B8"/>
                </a:solidFill>
              </a:rPr>
              <a:t>Strategic technical roadmap for high-scale microservices, automated logistics, and smart AI personalization</a:t>
            </a:r>
            <a:endParaRPr lang="en-US" sz="1200" dirty="0"/>
          </a:p>
        </p:txBody>
      </p:sp>
      <p:sp>
        <p:nvSpPr>
          <p:cNvPr id="6" name="Text 4"/>
          <p:cNvSpPr/>
          <p:nvPr/>
        </p:nvSpPr>
        <p:spPr>
          <a:xfrm>
            <a:off x="731520" y="6510528"/>
            <a:ext cx="6858000" cy="256032"/>
          </a:xfrm>
          <a:prstGeom prst="rect">
            <a:avLst/>
          </a:prstGeom>
          <a:noFill/>
          <a:ln/>
        </p:spPr>
        <p:txBody>
          <a:bodyPr wrap="square" rtlCol="0" anchor="ctr"/>
          <a:lstStyle/>
          <a:p>
            <a:pPr indent="0" marL="0">
              <a:buNone/>
            </a:pPr>
            <a:r>
              <a:rPr lang="en-US" sz="900" dirty="0">
                <a:solidFill>
                  <a:srgbClr val="94A3B8"/>
                </a:solidFill>
              </a:rPr>
              <a:t>FoodWala — Bengaluru Food Discovery &amp; Delivery Platform</a:t>
            </a:r>
            <a:endParaRPr lang="en-US" sz="900" dirty="0"/>
          </a:p>
        </p:txBody>
      </p:sp>
      <p:sp>
        <p:nvSpPr>
          <p:cNvPr id="7" name="Text 5"/>
          <p:cNvSpPr/>
          <p:nvPr/>
        </p:nvSpPr>
        <p:spPr>
          <a:xfrm>
            <a:off x="7589520" y="6510528"/>
            <a:ext cx="3867912" cy="256032"/>
          </a:xfrm>
          <a:prstGeom prst="rect">
            <a:avLst/>
          </a:prstGeom>
          <a:noFill/>
          <a:ln/>
        </p:spPr>
        <p:txBody>
          <a:bodyPr wrap="square" rtlCol="0" anchor="ctr"/>
          <a:lstStyle/>
          <a:p>
            <a:pPr algn="r" indent="0" marL="0">
              <a:buNone/>
            </a:pPr>
            <a:r>
              <a:rPr lang="en-US" sz="900" dirty="0">
                <a:solidFill>
                  <a:srgbClr val="94A3B8"/>
                </a:solidFill>
              </a:rPr>
              <a:t>Confidential • Project Demonstration • Master Deck</a:t>
            </a:r>
            <a:endParaRPr lang="en-US" sz="900" dirty="0"/>
          </a:p>
        </p:txBody>
      </p:sp>
      <p:sp>
        <p:nvSpPr>
          <p:cNvPr id="8" name="Shape 6"/>
          <p:cNvSpPr/>
          <p:nvPr/>
        </p:nvSpPr>
        <p:spPr>
          <a:xfrm>
            <a:off x="731520" y="1508760"/>
            <a:ext cx="5212080" cy="1280160"/>
          </a:xfrm>
          <a:prstGeom prst="roundRect">
            <a:avLst>
              <a:gd name="adj" fmla="val 5714"/>
            </a:avLst>
          </a:prstGeom>
          <a:solidFill>
            <a:srgbClr val="1E293B"/>
          </a:solidFill>
          <a:ln w="12700">
            <a:solidFill>
              <a:srgbClr val="334155"/>
            </a:solidFill>
            <a:prstDash val="solid"/>
          </a:ln>
        </p:spPr>
      </p:sp>
      <p:sp>
        <p:nvSpPr>
          <p:cNvPr id="9" name="Shape 7"/>
          <p:cNvSpPr/>
          <p:nvPr/>
        </p:nvSpPr>
        <p:spPr>
          <a:xfrm>
            <a:off x="868680" y="1645920"/>
            <a:ext cx="502920" cy="320040"/>
          </a:xfrm>
          <a:prstGeom prst="roundRect">
            <a:avLst>
              <a:gd name="adj" fmla="val 17143"/>
            </a:avLst>
          </a:prstGeom>
          <a:solidFill>
            <a:srgbClr val="EF4444">
              <a:alpha val="15000"/>
            </a:srgbClr>
          </a:solidFill>
          <a:ln w="12700">
            <a:solidFill>
              <a:srgbClr val="EF4444"/>
            </a:solidFill>
            <a:prstDash val="solid"/>
          </a:ln>
        </p:spPr>
      </p:sp>
      <p:sp>
        <p:nvSpPr>
          <p:cNvPr id="10" name="Text 8"/>
          <p:cNvSpPr/>
          <p:nvPr/>
        </p:nvSpPr>
        <p:spPr>
          <a:xfrm>
            <a:off x="868680" y="1645920"/>
            <a:ext cx="502920" cy="320040"/>
          </a:xfrm>
          <a:prstGeom prst="rect">
            <a:avLst/>
          </a:prstGeom>
          <a:noFill/>
          <a:ln/>
        </p:spPr>
        <p:txBody>
          <a:bodyPr wrap="square" rtlCol="0" anchor="ctr"/>
          <a:lstStyle/>
          <a:p>
            <a:pPr algn="ctr" indent="0" marL="0">
              <a:buNone/>
            </a:pPr>
            <a:r>
              <a:rPr lang="en-US" sz="1200" b="1" dirty="0">
                <a:solidFill>
                  <a:srgbClr val="EF4444"/>
                </a:solidFill>
              </a:rPr>
              <a:t>01</a:t>
            </a:r>
            <a:endParaRPr lang="en-US" sz="1200" dirty="0"/>
          </a:p>
        </p:txBody>
      </p:sp>
      <p:sp>
        <p:nvSpPr>
          <p:cNvPr id="11" name="Text 9"/>
          <p:cNvSpPr/>
          <p:nvPr/>
        </p:nvSpPr>
        <p:spPr>
          <a:xfrm>
            <a:off x="1508760" y="1645920"/>
            <a:ext cx="4206240" cy="292608"/>
          </a:xfrm>
          <a:prstGeom prst="rect">
            <a:avLst/>
          </a:prstGeom>
          <a:noFill/>
          <a:ln/>
        </p:spPr>
        <p:txBody>
          <a:bodyPr wrap="square" rtlCol="0" anchor="ctr"/>
          <a:lstStyle/>
          <a:p>
            <a:pPr indent="0" marL="0">
              <a:buNone/>
            </a:pPr>
            <a:r>
              <a:rPr lang="en-US" sz="1200" b="1" dirty="0">
                <a:solidFill>
                  <a:srgbClr val="F8FAFC"/>
                </a:solidFill>
              </a:rPr>
              <a:t>Bidirectional WebSocket Fleet Tracking</a:t>
            </a:r>
            <a:endParaRPr lang="en-US" sz="1200" dirty="0"/>
          </a:p>
        </p:txBody>
      </p:sp>
      <p:sp>
        <p:nvSpPr>
          <p:cNvPr id="12" name="Text 10"/>
          <p:cNvSpPr/>
          <p:nvPr/>
        </p:nvSpPr>
        <p:spPr>
          <a:xfrm>
            <a:off x="1508760" y="1947672"/>
            <a:ext cx="4206240" cy="731520"/>
          </a:xfrm>
          <a:prstGeom prst="rect">
            <a:avLst/>
          </a:prstGeom>
          <a:noFill/>
          <a:ln/>
        </p:spPr>
        <p:txBody>
          <a:bodyPr wrap="square" rtlCol="0" anchor="ctr"/>
          <a:lstStyle/>
          <a:p>
            <a:pPr indent="0" marL="0">
              <a:buNone/>
            </a:pPr>
            <a:r>
              <a:rPr lang="en-US" sz="950" dirty="0">
                <a:solidFill>
                  <a:srgbClr val="94A3B8"/>
                </a:solidFill>
              </a:rPr>
              <a:t>Upgrade from periodic HTTP polling to real-time Socket.IO / WebSockets for sub-second GPS coordinate streaming between delivery partners and customer tracking screens.</a:t>
            </a:r>
            <a:endParaRPr lang="en-US" sz="950" dirty="0"/>
          </a:p>
        </p:txBody>
      </p:sp>
      <p:sp>
        <p:nvSpPr>
          <p:cNvPr id="13" name="Shape 11"/>
          <p:cNvSpPr/>
          <p:nvPr/>
        </p:nvSpPr>
        <p:spPr>
          <a:xfrm>
            <a:off x="6245352" y="1508760"/>
            <a:ext cx="5212080" cy="1280160"/>
          </a:xfrm>
          <a:prstGeom prst="roundRect">
            <a:avLst>
              <a:gd name="adj" fmla="val 5714"/>
            </a:avLst>
          </a:prstGeom>
          <a:solidFill>
            <a:srgbClr val="1E293B"/>
          </a:solidFill>
          <a:ln w="12700">
            <a:solidFill>
              <a:srgbClr val="334155"/>
            </a:solidFill>
            <a:prstDash val="solid"/>
          </a:ln>
        </p:spPr>
      </p:sp>
      <p:sp>
        <p:nvSpPr>
          <p:cNvPr id="14" name="Shape 12"/>
          <p:cNvSpPr/>
          <p:nvPr/>
        </p:nvSpPr>
        <p:spPr>
          <a:xfrm>
            <a:off x="6382512" y="1645920"/>
            <a:ext cx="502920" cy="320040"/>
          </a:xfrm>
          <a:prstGeom prst="roundRect">
            <a:avLst>
              <a:gd name="adj" fmla="val 17143"/>
            </a:avLst>
          </a:prstGeom>
          <a:solidFill>
            <a:srgbClr val="EF4444">
              <a:alpha val="15000"/>
            </a:srgbClr>
          </a:solidFill>
          <a:ln w="12700">
            <a:solidFill>
              <a:srgbClr val="EF4444"/>
            </a:solidFill>
            <a:prstDash val="solid"/>
          </a:ln>
        </p:spPr>
      </p:sp>
      <p:sp>
        <p:nvSpPr>
          <p:cNvPr id="15" name="Text 13"/>
          <p:cNvSpPr/>
          <p:nvPr/>
        </p:nvSpPr>
        <p:spPr>
          <a:xfrm>
            <a:off x="6382512" y="1645920"/>
            <a:ext cx="502920" cy="320040"/>
          </a:xfrm>
          <a:prstGeom prst="rect">
            <a:avLst/>
          </a:prstGeom>
          <a:noFill/>
          <a:ln/>
        </p:spPr>
        <p:txBody>
          <a:bodyPr wrap="square" rtlCol="0" anchor="ctr"/>
          <a:lstStyle/>
          <a:p>
            <a:pPr algn="ctr" indent="0" marL="0">
              <a:buNone/>
            </a:pPr>
            <a:r>
              <a:rPr lang="en-US" sz="1200" b="1" dirty="0">
                <a:solidFill>
                  <a:srgbClr val="EF4444"/>
                </a:solidFill>
              </a:rPr>
              <a:t>02</a:t>
            </a:r>
            <a:endParaRPr lang="en-US" sz="1200" dirty="0"/>
          </a:p>
        </p:txBody>
      </p:sp>
      <p:sp>
        <p:nvSpPr>
          <p:cNvPr id="16" name="Text 14"/>
          <p:cNvSpPr/>
          <p:nvPr/>
        </p:nvSpPr>
        <p:spPr>
          <a:xfrm>
            <a:off x="7022592" y="1645920"/>
            <a:ext cx="4206240" cy="292608"/>
          </a:xfrm>
          <a:prstGeom prst="rect">
            <a:avLst/>
          </a:prstGeom>
          <a:noFill/>
          <a:ln/>
        </p:spPr>
        <p:txBody>
          <a:bodyPr wrap="square" rtlCol="0" anchor="ctr"/>
          <a:lstStyle/>
          <a:p>
            <a:pPr indent="0" marL="0">
              <a:buNone/>
            </a:pPr>
            <a:r>
              <a:rPr lang="en-US" sz="1200" b="1" dirty="0">
                <a:solidFill>
                  <a:srgbClr val="F8FAFC"/>
                </a:solidFill>
              </a:rPr>
              <a:t>Collaborative AI Dish Recommendation Engine</a:t>
            </a:r>
            <a:endParaRPr lang="en-US" sz="1200" dirty="0"/>
          </a:p>
        </p:txBody>
      </p:sp>
      <p:sp>
        <p:nvSpPr>
          <p:cNvPr id="17" name="Text 15"/>
          <p:cNvSpPr/>
          <p:nvPr/>
        </p:nvSpPr>
        <p:spPr>
          <a:xfrm>
            <a:off x="7022592" y="1947672"/>
            <a:ext cx="4206240" cy="731520"/>
          </a:xfrm>
          <a:prstGeom prst="rect">
            <a:avLst/>
          </a:prstGeom>
          <a:noFill/>
          <a:ln/>
        </p:spPr>
        <p:txBody>
          <a:bodyPr wrap="square" rtlCol="0" anchor="ctr"/>
          <a:lstStyle/>
          <a:p>
            <a:pPr indent="0" marL="0">
              <a:buNone/>
            </a:pPr>
            <a:r>
              <a:rPr lang="en-US" sz="950" dirty="0">
                <a:solidFill>
                  <a:srgbClr val="94A3B8"/>
                </a:solidFill>
              </a:rPr>
              <a:t>Deploy collaborative filtering and neural matrix factorization analyzing ordering patterns, time of day, weather, and dietary tags to suggest high-conversion meals.</a:t>
            </a:r>
            <a:endParaRPr lang="en-US" sz="950" dirty="0"/>
          </a:p>
        </p:txBody>
      </p:sp>
      <p:sp>
        <p:nvSpPr>
          <p:cNvPr id="18" name="Shape 16"/>
          <p:cNvSpPr/>
          <p:nvPr/>
        </p:nvSpPr>
        <p:spPr>
          <a:xfrm>
            <a:off x="731520" y="2926080"/>
            <a:ext cx="5212080" cy="1280160"/>
          </a:xfrm>
          <a:prstGeom prst="roundRect">
            <a:avLst>
              <a:gd name="adj" fmla="val 5714"/>
            </a:avLst>
          </a:prstGeom>
          <a:solidFill>
            <a:srgbClr val="1E293B"/>
          </a:solidFill>
          <a:ln w="12700">
            <a:solidFill>
              <a:srgbClr val="334155"/>
            </a:solidFill>
            <a:prstDash val="solid"/>
          </a:ln>
        </p:spPr>
      </p:sp>
      <p:sp>
        <p:nvSpPr>
          <p:cNvPr id="19" name="Shape 17"/>
          <p:cNvSpPr/>
          <p:nvPr/>
        </p:nvSpPr>
        <p:spPr>
          <a:xfrm>
            <a:off x="868680" y="3063240"/>
            <a:ext cx="502920" cy="320040"/>
          </a:xfrm>
          <a:prstGeom prst="roundRect">
            <a:avLst>
              <a:gd name="adj" fmla="val 17143"/>
            </a:avLst>
          </a:prstGeom>
          <a:solidFill>
            <a:srgbClr val="EF4444">
              <a:alpha val="15000"/>
            </a:srgbClr>
          </a:solidFill>
          <a:ln w="12700">
            <a:solidFill>
              <a:srgbClr val="EF4444"/>
            </a:solidFill>
            <a:prstDash val="solid"/>
          </a:ln>
        </p:spPr>
      </p:sp>
      <p:sp>
        <p:nvSpPr>
          <p:cNvPr id="20" name="Text 18"/>
          <p:cNvSpPr/>
          <p:nvPr/>
        </p:nvSpPr>
        <p:spPr>
          <a:xfrm>
            <a:off x="868680" y="3063240"/>
            <a:ext cx="502920" cy="320040"/>
          </a:xfrm>
          <a:prstGeom prst="rect">
            <a:avLst/>
          </a:prstGeom>
          <a:noFill/>
          <a:ln/>
        </p:spPr>
        <p:txBody>
          <a:bodyPr wrap="square" rtlCol="0" anchor="ctr"/>
          <a:lstStyle/>
          <a:p>
            <a:pPr algn="ctr" indent="0" marL="0">
              <a:buNone/>
            </a:pPr>
            <a:r>
              <a:rPr lang="en-US" sz="1200" b="1" dirty="0">
                <a:solidFill>
                  <a:srgbClr val="EF4444"/>
                </a:solidFill>
              </a:rPr>
              <a:t>03</a:t>
            </a:r>
            <a:endParaRPr lang="en-US" sz="1200" dirty="0"/>
          </a:p>
        </p:txBody>
      </p:sp>
      <p:sp>
        <p:nvSpPr>
          <p:cNvPr id="21" name="Text 19"/>
          <p:cNvSpPr/>
          <p:nvPr/>
        </p:nvSpPr>
        <p:spPr>
          <a:xfrm>
            <a:off x="1508760" y="3063240"/>
            <a:ext cx="4206240" cy="292608"/>
          </a:xfrm>
          <a:prstGeom prst="rect">
            <a:avLst/>
          </a:prstGeom>
          <a:noFill/>
          <a:ln/>
        </p:spPr>
        <p:txBody>
          <a:bodyPr wrap="square" rtlCol="0" anchor="ctr"/>
          <a:lstStyle/>
          <a:p>
            <a:pPr indent="0" marL="0">
              <a:buNone/>
            </a:pPr>
            <a:r>
              <a:rPr lang="en-US" sz="1200" b="1" dirty="0">
                <a:solidFill>
                  <a:srgbClr val="F8FAFC"/>
                </a:solidFill>
              </a:rPr>
              <a:t>Progressive Web App (PWA) &amp; Offline Menus</a:t>
            </a:r>
            <a:endParaRPr lang="en-US" sz="1200" dirty="0"/>
          </a:p>
        </p:txBody>
      </p:sp>
      <p:sp>
        <p:nvSpPr>
          <p:cNvPr id="22" name="Text 20"/>
          <p:cNvSpPr/>
          <p:nvPr/>
        </p:nvSpPr>
        <p:spPr>
          <a:xfrm>
            <a:off x="1508760" y="3364992"/>
            <a:ext cx="4206240" cy="731520"/>
          </a:xfrm>
          <a:prstGeom prst="rect">
            <a:avLst/>
          </a:prstGeom>
          <a:noFill/>
          <a:ln/>
        </p:spPr>
        <p:txBody>
          <a:bodyPr wrap="square" rtlCol="0" anchor="ctr"/>
          <a:lstStyle/>
          <a:p>
            <a:pPr indent="0" marL="0">
              <a:buNone/>
            </a:pPr>
            <a:r>
              <a:rPr lang="en-US" sz="950" dirty="0">
                <a:solidFill>
                  <a:srgbClr val="94A3B8"/>
                </a:solidFill>
              </a:rPr>
              <a:t>Implement Service Workers and Cache API to enable instant offline menu browsing and native Web Push notifications for order status transitions.</a:t>
            </a:r>
            <a:endParaRPr lang="en-US" sz="950" dirty="0"/>
          </a:p>
        </p:txBody>
      </p:sp>
      <p:sp>
        <p:nvSpPr>
          <p:cNvPr id="23" name="Shape 21"/>
          <p:cNvSpPr/>
          <p:nvPr/>
        </p:nvSpPr>
        <p:spPr>
          <a:xfrm>
            <a:off x="6245352" y="2926080"/>
            <a:ext cx="5212080" cy="1280160"/>
          </a:xfrm>
          <a:prstGeom prst="roundRect">
            <a:avLst>
              <a:gd name="adj" fmla="val 5714"/>
            </a:avLst>
          </a:prstGeom>
          <a:solidFill>
            <a:srgbClr val="1E293B"/>
          </a:solidFill>
          <a:ln w="12700">
            <a:solidFill>
              <a:srgbClr val="334155"/>
            </a:solidFill>
            <a:prstDash val="solid"/>
          </a:ln>
        </p:spPr>
      </p:sp>
      <p:sp>
        <p:nvSpPr>
          <p:cNvPr id="24" name="Shape 22"/>
          <p:cNvSpPr/>
          <p:nvPr/>
        </p:nvSpPr>
        <p:spPr>
          <a:xfrm>
            <a:off x="6382512" y="3063240"/>
            <a:ext cx="502920" cy="320040"/>
          </a:xfrm>
          <a:prstGeom prst="roundRect">
            <a:avLst>
              <a:gd name="adj" fmla="val 17143"/>
            </a:avLst>
          </a:prstGeom>
          <a:solidFill>
            <a:srgbClr val="EF4444">
              <a:alpha val="15000"/>
            </a:srgbClr>
          </a:solidFill>
          <a:ln w="12700">
            <a:solidFill>
              <a:srgbClr val="EF4444"/>
            </a:solidFill>
            <a:prstDash val="solid"/>
          </a:ln>
        </p:spPr>
      </p:sp>
      <p:sp>
        <p:nvSpPr>
          <p:cNvPr id="25" name="Text 23"/>
          <p:cNvSpPr/>
          <p:nvPr/>
        </p:nvSpPr>
        <p:spPr>
          <a:xfrm>
            <a:off x="6382512" y="3063240"/>
            <a:ext cx="502920" cy="320040"/>
          </a:xfrm>
          <a:prstGeom prst="rect">
            <a:avLst/>
          </a:prstGeom>
          <a:noFill/>
          <a:ln/>
        </p:spPr>
        <p:txBody>
          <a:bodyPr wrap="square" rtlCol="0" anchor="ctr"/>
          <a:lstStyle/>
          <a:p>
            <a:pPr algn="ctr" indent="0" marL="0">
              <a:buNone/>
            </a:pPr>
            <a:r>
              <a:rPr lang="en-US" sz="1200" b="1" dirty="0">
                <a:solidFill>
                  <a:srgbClr val="EF4444"/>
                </a:solidFill>
              </a:rPr>
              <a:t>04</a:t>
            </a:r>
            <a:endParaRPr lang="en-US" sz="1200" dirty="0"/>
          </a:p>
        </p:txBody>
      </p:sp>
      <p:sp>
        <p:nvSpPr>
          <p:cNvPr id="26" name="Text 24"/>
          <p:cNvSpPr/>
          <p:nvPr/>
        </p:nvSpPr>
        <p:spPr>
          <a:xfrm>
            <a:off x="7022592" y="3063240"/>
            <a:ext cx="4206240" cy="292608"/>
          </a:xfrm>
          <a:prstGeom prst="rect">
            <a:avLst/>
          </a:prstGeom>
          <a:noFill/>
          <a:ln/>
        </p:spPr>
        <p:txBody>
          <a:bodyPr wrap="square" rtlCol="0" anchor="ctr"/>
          <a:lstStyle/>
          <a:p>
            <a:pPr indent="0" marL="0">
              <a:buNone/>
            </a:pPr>
            <a:r>
              <a:rPr lang="en-US" sz="1200" b="1" dirty="0">
                <a:solidFill>
                  <a:srgbClr val="F8FAFC"/>
                </a:solidFill>
              </a:rPr>
              <a:t>Multi-Restaurant Unified Cart Checkout</a:t>
            </a:r>
            <a:endParaRPr lang="en-US" sz="1200" dirty="0"/>
          </a:p>
        </p:txBody>
      </p:sp>
      <p:sp>
        <p:nvSpPr>
          <p:cNvPr id="27" name="Text 25"/>
          <p:cNvSpPr/>
          <p:nvPr/>
        </p:nvSpPr>
        <p:spPr>
          <a:xfrm>
            <a:off x="7022592" y="3364992"/>
            <a:ext cx="4206240" cy="731520"/>
          </a:xfrm>
          <a:prstGeom prst="rect">
            <a:avLst/>
          </a:prstGeom>
          <a:noFill/>
          <a:ln/>
        </p:spPr>
        <p:txBody>
          <a:bodyPr wrap="square" rtlCol="0" anchor="ctr"/>
          <a:lstStyle/>
          <a:p>
            <a:pPr indent="0" marL="0">
              <a:buNone/>
            </a:pPr>
            <a:r>
              <a:rPr lang="en-US" sz="950" dirty="0">
                <a:solidFill>
                  <a:srgbClr val="94A3B8"/>
                </a:solidFill>
              </a:rPr>
              <a:t>Enable customers to combine dishes from multiple nearby restaurants into a single unified cart with intelligent dual-pickup route batching.</a:t>
            </a:r>
            <a:endParaRPr lang="en-US" sz="950" dirty="0"/>
          </a:p>
        </p:txBody>
      </p:sp>
      <p:sp>
        <p:nvSpPr>
          <p:cNvPr id="28" name="Shape 26"/>
          <p:cNvSpPr/>
          <p:nvPr/>
        </p:nvSpPr>
        <p:spPr>
          <a:xfrm>
            <a:off x="731520" y="4343400"/>
            <a:ext cx="5212080" cy="1280160"/>
          </a:xfrm>
          <a:prstGeom prst="roundRect">
            <a:avLst>
              <a:gd name="adj" fmla="val 5714"/>
            </a:avLst>
          </a:prstGeom>
          <a:solidFill>
            <a:srgbClr val="1E293B"/>
          </a:solidFill>
          <a:ln w="12700">
            <a:solidFill>
              <a:srgbClr val="334155"/>
            </a:solidFill>
            <a:prstDash val="solid"/>
          </a:ln>
        </p:spPr>
      </p:sp>
      <p:sp>
        <p:nvSpPr>
          <p:cNvPr id="29" name="Shape 27"/>
          <p:cNvSpPr/>
          <p:nvPr/>
        </p:nvSpPr>
        <p:spPr>
          <a:xfrm>
            <a:off x="868680" y="4480560"/>
            <a:ext cx="502920" cy="320040"/>
          </a:xfrm>
          <a:prstGeom prst="roundRect">
            <a:avLst>
              <a:gd name="adj" fmla="val 17143"/>
            </a:avLst>
          </a:prstGeom>
          <a:solidFill>
            <a:srgbClr val="EF4444">
              <a:alpha val="15000"/>
            </a:srgbClr>
          </a:solidFill>
          <a:ln w="12700">
            <a:solidFill>
              <a:srgbClr val="EF4444"/>
            </a:solidFill>
            <a:prstDash val="solid"/>
          </a:ln>
        </p:spPr>
      </p:sp>
      <p:sp>
        <p:nvSpPr>
          <p:cNvPr id="30" name="Text 28"/>
          <p:cNvSpPr/>
          <p:nvPr/>
        </p:nvSpPr>
        <p:spPr>
          <a:xfrm>
            <a:off x="868680" y="4480560"/>
            <a:ext cx="502920" cy="320040"/>
          </a:xfrm>
          <a:prstGeom prst="rect">
            <a:avLst/>
          </a:prstGeom>
          <a:noFill/>
          <a:ln/>
        </p:spPr>
        <p:txBody>
          <a:bodyPr wrap="square" rtlCol="0" anchor="ctr"/>
          <a:lstStyle/>
          <a:p>
            <a:pPr algn="ctr" indent="0" marL="0">
              <a:buNone/>
            </a:pPr>
            <a:r>
              <a:rPr lang="en-US" sz="1200" b="1" dirty="0">
                <a:solidFill>
                  <a:srgbClr val="EF4444"/>
                </a:solidFill>
              </a:rPr>
              <a:t>05</a:t>
            </a:r>
            <a:endParaRPr lang="en-US" sz="1200" dirty="0"/>
          </a:p>
        </p:txBody>
      </p:sp>
      <p:sp>
        <p:nvSpPr>
          <p:cNvPr id="31" name="Text 29"/>
          <p:cNvSpPr/>
          <p:nvPr/>
        </p:nvSpPr>
        <p:spPr>
          <a:xfrm>
            <a:off x="1508760" y="4480560"/>
            <a:ext cx="4206240" cy="292608"/>
          </a:xfrm>
          <a:prstGeom prst="rect">
            <a:avLst/>
          </a:prstGeom>
          <a:noFill/>
          <a:ln/>
        </p:spPr>
        <p:txBody>
          <a:bodyPr wrap="square" rtlCol="0" anchor="ctr"/>
          <a:lstStyle/>
          <a:p>
            <a:pPr indent="0" marL="0">
              <a:buNone/>
            </a:pPr>
            <a:r>
              <a:rPr lang="en-US" sz="1200" b="1" dirty="0">
                <a:solidFill>
                  <a:srgbClr val="F8FAFC"/>
                </a:solidFill>
              </a:rPr>
              <a:t>Algorithmic Route Optimization &amp; Dispatch</a:t>
            </a:r>
            <a:endParaRPr lang="en-US" sz="1200" dirty="0"/>
          </a:p>
        </p:txBody>
      </p:sp>
      <p:sp>
        <p:nvSpPr>
          <p:cNvPr id="32" name="Text 30"/>
          <p:cNvSpPr/>
          <p:nvPr/>
        </p:nvSpPr>
        <p:spPr>
          <a:xfrm>
            <a:off x="1508760" y="4782312"/>
            <a:ext cx="4206240" cy="731520"/>
          </a:xfrm>
          <a:prstGeom prst="rect">
            <a:avLst/>
          </a:prstGeom>
          <a:noFill/>
          <a:ln/>
        </p:spPr>
        <p:txBody>
          <a:bodyPr wrap="square" rtlCol="0" anchor="ctr"/>
          <a:lstStyle/>
          <a:p>
            <a:pPr indent="0" marL="0">
              <a:buNone/>
            </a:pPr>
            <a:r>
              <a:rPr lang="en-US" sz="950" dirty="0">
                <a:solidFill>
                  <a:srgbClr val="94A3B8"/>
                </a:solidFill>
              </a:rPr>
              <a:t>Integrate Dijkstra / A* route graph optimization taking Bengaluru traffic congestion data into account to assign nearest optimal delivery riders.</a:t>
            </a:r>
            <a:endParaRPr lang="en-US" sz="950" dirty="0"/>
          </a:p>
        </p:txBody>
      </p:sp>
      <p:sp>
        <p:nvSpPr>
          <p:cNvPr id="33" name="Shape 31"/>
          <p:cNvSpPr/>
          <p:nvPr/>
        </p:nvSpPr>
        <p:spPr>
          <a:xfrm>
            <a:off x="6245352" y="4343400"/>
            <a:ext cx="5212080" cy="1280160"/>
          </a:xfrm>
          <a:prstGeom prst="roundRect">
            <a:avLst>
              <a:gd name="adj" fmla="val 5714"/>
            </a:avLst>
          </a:prstGeom>
          <a:solidFill>
            <a:srgbClr val="1E293B"/>
          </a:solidFill>
          <a:ln w="12700">
            <a:solidFill>
              <a:srgbClr val="334155"/>
            </a:solidFill>
            <a:prstDash val="solid"/>
          </a:ln>
        </p:spPr>
      </p:sp>
      <p:sp>
        <p:nvSpPr>
          <p:cNvPr id="34" name="Shape 32"/>
          <p:cNvSpPr/>
          <p:nvPr/>
        </p:nvSpPr>
        <p:spPr>
          <a:xfrm>
            <a:off x="6382512" y="4480560"/>
            <a:ext cx="502920" cy="320040"/>
          </a:xfrm>
          <a:prstGeom prst="roundRect">
            <a:avLst>
              <a:gd name="adj" fmla="val 17143"/>
            </a:avLst>
          </a:prstGeom>
          <a:solidFill>
            <a:srgbClr val="EF4444">
              <a:alpha val="15000"/>
            </a:srgbClr>
          </a:solidFill>
          <a:ln w="12700">
            <a:solidFill>
              <a:srgbClr val="EF4444"/>
            </a:solidFill>
            <a:prstDash val="solid"/>
          </a:ln>
        </p:spPr>
      </p:sp>
      <p:sp>
        <p:nvSpPr>
          <p:cNvPr id="35" name="Text 33"/>
          <p:cNvSpPr/>
          <p:nvPr/>
        </p:nvSpPr>
        <p:spPr>
          <a:xfrm>
            <a:off x="6382512" y="4480560"/>
            <a:ext cx="502920" cy="320040"/>
          </a:xfrm>
          <a:prstGeom prst="rect">
            <a:avLst/>
          </a:prstGeom>
          <a:noFill/>
          <a:ln/>
        </p:spPr>
        <p:txBody>
          <a:bodyPr wrap="square" rtlCol="0" anchor="ctr"/>
          <a:lstStyle/>
          <a:p>
            <a:pPr algn="ctr" indent="0" marL="0">
              <a:buNone/>
            </a:pPr>
            <a:r>
              <a:rPr lang="en-US" sz="1200" b="1" dirty="0">
                <a:solidFill>
                  <a:srgbClr val="EF4444"/>
                </a:solidFill>
              </a:rPr>
              <a:t>06</a:t>
            </a:r>
            <a:endParaRPr lang="en-US" sz="1200" dirty="0"/>
          </a:p>
        </p:txBody>
      </p:sp>
      <p:sp>
        <p:nvSpPr>
          <p:cNvPr id="36" name="Text 34"/>
          <p:cNvSpPr/>
          <p:nvPr/>
        </p:nvSpPr>
        <p:spPr>
          <a:xfrm>
            <a:off x="7022592" y="4480560"/>
            <a:ext cx="4206240" cy="292608"/>
          </a:xfrm>
          <a:prstGeom prst="rect">
            <a:avLst/>
          </a:prstGeom>
          <a:noFill/>
          <a:ln/>
        </p:spPr>
        <p:txBody>
          <a:bodyPr wrap="square" rtlCol="0" anchor="ctr"/>
          <a:lstStyle/>
          <a:p>
            <a:pPr indent="0" marL="0">
              <a:buNone/>
            </a:pPr>
            <a:r>
              <a:rPr lang="en-US" sz="1200" b="1" dirty="0">
                <a:solidFill>
                  <a:srgbClr val="F8FAFC"/>
                </a:solidFill>
              </a:rPr>
              <a:t>Multilingual Voice Food Ordering (Kannada / Hindi)</a:t>
            </a:r>
            <a:endParaRPr lang="en-US" sz="1200" dirty="0"/>
          </a:p>
        </p:txBody>
      </p:sp>
      <p:sp>
        <p:nvSpPr>
          <p:cNvPr id="37" name="Text 35"/>
          <p:cNvSpPr/>
          <p:nvPr/>
        </p:nvSpPr>
        <p:spPr>
          <a:xfrm>
            <a:off x="7022592" y="4782312"/>
            <a:ext cx="4206240" cy="731520"/>
          </a:xfrm>
          <a:prstGeom prst="rect">
            <a:avLst/>
          </a:prstGeom>
          <a:noFill/>
          <a:ln/>
        </p:spPr>
        <p:txBody>
          <a:bodyPr wrap="square" rtlCol="0" anchor="ctr"/>
          <a:lstStyle/>
          <a:p>
            <a:pPr indent="0" marL="0">
              <a:buNone/>
            </a:pPr>
            <a:r>
              <a:rPr lang="en-US" sz="950" dirty="0">
                <a:solidFill>
                  <a:srgbClr val="94A3B8"/>
                </a:solidFill>
              </a:rPr>
              <a:t>Integrate speech-to-text NLP allowing Bengaluru users to search menus, customize toppings, and place orders using vernacular voice commands.</a:t>
            </a:r>
            <a:endParaRPr lang="en-US" sz="950" dirty="0"/>
          </a:p>
        </p:txBody>
      </p:sp>
      <p:sp>
        <p:nvSpPr>
          <p:cNvPr id="38" name="Text 36"/>
          <p:cNvSpPr/>
          <p:nvPr/>
        </p:nvSpPr>
        <p:spPr>
          <a:xfrm>
            <a:off x="731520" y="6108192"/>
            <a:ext cx="10725912" cy="274320"/>
          </a:xfrm>
          <a:prstGeom prst="rect">
            <a:avLst/>
          </a:prstGeom>
          <a:noFill/>
          <a:ln/>
        </p:spPr>
        <p:txBody>
          <a:bodyPr wrap="square" rtlCol="0" anchor="ctr"/>
          <a:lstStyle/>
          <a:p>
            <a:pPr algn="ctr" indent="0" marL="0">
              <a:buNone/>
            </a:pPr>
            <a:r>
              <a:rPr lang="en-US" sz="1000" i="1" dirty="0">
                <a:solidFill>
                  <a:srgbClr val="38BDF8"/>
                </a:solidFill>
              </a:rPr>
              <a:t>Roadmap Timeline: Q1 2027 — Q4 2027 • Architectural Evolution from Monolith to Event-Driven Microservices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FoodWala - Bengaluru Discovery and Delivery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FoodWala Project Presentation</dc:title>
  <dc:subject>Comprehensive Project Demonstration and Architecture</dc:subject>
  <dc:creator>FoodWala Engineering Team</dc:creator>
  <cp:lastModifiedBy>FoodWala Engineering Team</cp:lastModifiedBy>
  <cp:revision>1</cp:revision>
  <dcterms:created xsi:type="dcterms:W3CDTF">2026-10-30T17:57:29Z</dcterms:created>
  <dcterms:modified xsi:type="dcterms:W3CDTF">2026-10-30T17:57:29Z</dcterms:modified>
</cp:coreProperties>
</file>