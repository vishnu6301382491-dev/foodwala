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914400"/>
            <a:ext cx="4389120" cy="4389120"/>
          </a:xfrm>
          <a:prstGeom prst="ellipse">
            <a:avLst/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86868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868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PROJECT 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325880"/>
            <a:ext cx="10360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</a:rPr>
              <a:t>FoodWala — Bengaluru Food Discovery &amp; Delivery Platform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2331720"/>
            <a:ext cx="10360152" cy="804672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23160"/>
            <a:ext cx="99943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8FAFC"/>
                </a:solidFill>
              </a:rPr>
              <a:t>"FoodWala is a full-stack Bengaluru food discovery and delivery platform that allows users to discover restaurants, search menus, place orders, make payments, and track deliveries in real time."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42900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97280" y="41148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Hyperlocal Discovery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4572000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Smart search with typo tolerance (Jaro-Winkler), dynamic category filters, and curated Bengaluru culinary showcases.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57016" y="342900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739896" y="41148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ACID Order Pipeline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39896" y="4572000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Atomic multi-table MySQL transactions handling cart lifecycle, discounts, Razorpay payments, and live order dispatch.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9632" y="342900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82512" y="41148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Multi-Role 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82512" y="4572000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Argon2id hashing, role-based access control isolating Super Admin, Store Managers, Delivery Riders, and Customers.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42248" y="3429000"/>
            <a:ext cx="2423160" cy="251460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25128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025128" y="41148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WhatsApp 24/7 AI Desk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5128" y="4572000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Omnichannel customer support powered by a 25-intent NLP classifier resolving order tracking and menu queries.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62636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Bengaluru, Karnataka • Production Ready Architecture • 4–5 Minute Demonstration Deck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Tech Stack &amp; System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full-stack technology stack deployed across frontend, backend, database, and integrations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6459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459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FRONTEND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19842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HTML5 &amp; CSS3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167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Semantic layout, custom dark mode, variables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23865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Bootstrap 5.3 &amp; Icons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2569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Responsive grid, modals, offcanvas navigation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27889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Vanilla JavaScript (ES6+)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2971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Modular client state, fetch API, local storage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3191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Media &amp; Culinary Audio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3374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HTML5 1080p WebM video &amp; Web Audio API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98264" y="150876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35424" y="16459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35424" y="16459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BACKEND &amp; APIS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35424" y="19842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Node.js (v24.17 LTS)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35424" y="2167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High performance asynchronous event loop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35424" y="23865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Express.js 4.x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35424" y="2569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RESTful routes, controllers, and middleware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35424" y="27889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Webhook Processor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35424" y="2971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Meta WhatsApp raw body verification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35424" y="3191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NLP Intent 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35424" y="3374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25-intent regex scoring and slot extraction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74152" y="150876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11312" y="164592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11312" y="16459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DATABASE &amp; STORAGE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11312" y="198424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MySQL 9.7 Server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11312" y="2167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22 relational tables, InnoDB engine, ACID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11312" y="238658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Connection Pool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11312" y="2569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mysql2/promise with connection limits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11312" y="278892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Foreign Key Integrity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11312" y="2971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Cascading updates, constraints, normalized 3NF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11312" y="3191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Audit &amp; Tracking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211312" y="3374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order_status_history, login_history, activity_log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1520" y="397764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680" y="411480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SECURITY &amp; AUTH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8680" y="4453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Argon2id Hashing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68680" y="46360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State-of-the-art memory-hard password encryption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68680" y="4855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Role-Based Access (RBAC)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503834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Super Admin, Store Manager, Rider, Customer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68680" y="5257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Security Middleware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68680" y="544068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Helmet headers, CORS, express-rate-limit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68680" y="5660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Store Data Isolation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68680" y="58430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Enforced tenant separation on all manager routes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98264" y="397764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35424" y="411480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8B5CF6">
              <a:alpha val="1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35424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</a:rPr>
              <a:t>PAYMENT &amp; COMMS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35424" y="4453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Razorpay API Gateway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35424" y="46360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UPI, Debit/Credit cards, NetBanking, COD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535424" y="4855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WhatsApp Cloud API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35424" y="503834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Graph API v18.0 automated conversational desk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35424" y="5257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EmailJS Receipt Delivery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35424" y="544068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Instant transactional order confirmation emails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535424" y="5660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In-Browser AI Desk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535424" y="58430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Instant floating fallback chat widget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074152" y="3977640"/>
            <a:ext cx="3383280" cy="2240280"/>
          </a:xfrm>
          <a:prstGeom prst="roundRect">
            <a:avLst>
              <a:gd name="adj" fmla="val 32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11312" y="411480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97316">
              <a:alpha val="15000"/>
            </a:srgbClr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1131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DEVOPS &amp; ENVIRONMENT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8211312" y="445312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Cloudflare Tunnel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211312" y="46360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Zero-trust HTTPS tunnel for webhook intake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211312" y="48554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Puppeteer Core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211312" y="503834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End-to-end automated UI &amp; screenshot testing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8211312" y="525780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Git &amp; GitHub Versioning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8211312" y="544068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Branching workflow, release version control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211312" y="566013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• Dotenv Configuration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211312" y="58430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   Secure environment variable management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Project Architecture &amp; Directory Layout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Visual codebase hierarchy demonstrating strict separation of frontend assets, backend APIs, and database migrations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463040"/>
            <a:ext cx="7680960" cy="4434840"/>
          </a:xfrm>
          <a:prstGeom prst="roundRect">
            <a:avLst>
              <a:gd name="adj" fmla="val 164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0_project_stru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536192"/>
            <a:ext cx="7498080" cy="42885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622792" y="1463040"/>
            <a:ext cx="2834640" cy="4434840"/>
          </a:xfrm>
          <a:prstGeom prst="roundRect">
            <a:avLst>
              <a:gd name="adj" fmla="val 258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05672" y="16459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Layered Architecture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805672" y="20574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Frontend Client Layer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805672" y="227685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Modular HTML5 views, responsive Bootstrap 5.3 stylesheets, and dedicated client scripts (app.js, cart.js, search.js).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805672" y="30175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Express Server Core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05672" y="323697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REST controllers, security middleware (rate-limiter, helmet, cors), and unified error handlers in /server.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805672" y="397764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Database Migrations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805672" y="419709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MySQL relational DDL scripts in /database with 22 normalized tables and sample seed catalogs.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805672" y="4937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AI &amp; Automation Scripts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805672" y="515721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WhatsApp intent classifiers, webhook listeners, Puppeteer test runners, and automated tools.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31520" y="608076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</a:rPr>
              <a:t>Caption: Frontend client files are strictly separated from Express REST controllers and MySQL database layer.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Database Architecture &amp; ER Diagram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Normalized relational database schema (MySQL 9.7) featuring 22 tables supporting ACID-compliant order transactions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diagrams\foodwala-er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Key Relationships: user (1:N) orders • restaurant (1:N) menu • orders (1:N) order_item • orders (1:1) payment • user (1:N) whatsapp_conversations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Home Page — Bengaluru Discovery &amp; Hero Showcase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Hero banner with video showcase, dynamic Bengaluru cuisine category carousels, instant search bar, and top-rated restaurants.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1_home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http://localhost:5000/home_page.html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Login Screen — Role-Based Authentication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Multi-role authentication gateway verifying Customer, Restaurant Manager, and Delivery Partner credentials with Argon2id password verification.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2_login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http://localhost:5000/login_page.html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Registration Screen — Customer Onboarding &amp; Fleet Toggle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Dual onboarding form supporting Customer sign-up and direct Delivery Partner fleet onboarding toggle with vehicle &amp; license validation.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3_register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http://localhost:5000/register_page.html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Account Security — Password Reset OTP Verification Email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Automated cryptographic password reset email delivering a 6-digit OTP (724132) with 15-minute validity, secure token expiry, and account protection.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4206240" cy="4590288"/>
          </a:xfrm>
          <a:prstGeom prst="roundRect">
            <a:avLst>
              <a:gd name="adj" fmla="val 1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21_email_forgot_passwo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41248" y="1508760"/>
            <a:ext cx="3986784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66360" y="1417320"/>
            <a:ext cx="6291072" cy="4590288"/>
          </a:xfrm>
          <a:prstGeom prst="roundRect">
            <a:avLst>
              <a:gd name="adj" fmla="val 159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94960" y="1618488"/>
            <a:ext cx="2926080" cy="256032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1618488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ACCOUNT RECOVERY &amp; AUTH SECURITY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94960" y="1947672"/>
            <a:ext cx="5833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Automated Security Verification Email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394960" y="2286000"/>
            <a:ext cx="5833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Instant OTP dispatch via EmailJS REST Gateway triggered upon password recovery request.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394960" y="2697480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27432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Subject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040880" y="2743200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FoodWala Receipt for Order VERIFY-724132 — FoodWala Account Security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394960" y="3118104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316382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Recipient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40880" y="3163824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Registered User Email (Direct Mailbox Delivery)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94960" y="3538728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0" y="358444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Verification OTP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040880" y="3584448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724132 (Strict 15-Minute Expiry Window)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94960" y="3959352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0" y="40050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Event Trigger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040880" y="4005072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POST /api/auth/forgot-password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394960" y="4471416"/>
            <a:ext cx="5833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Key Architectural Highlights: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394960" y="470916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Argon2id Memory-Hard Password Re-hashing on submit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394960" y="4928616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Transient In-Memory OTP Store + MySQL reset_token Sync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394960" y="5148072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Single-use verification token cleared immediately upon reset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394960" y="5367528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Rate-limited endpoints (authLimiter) to prevent brute-force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394960" y="5550408"/>
            <a:ext cx="5833872" cy="320040"/>
          </a:xfrm>
          <a:prstGeom prst="roundRect">
            <a:avLst>
              <a:gd name="adj" fmla="val 14286"/>
            </a:avLst>
          </a:prstGeom>
          <a:solidFill>
            <a:srgbClr val="090E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86400" y="5550408"/>
            <a:ext cx="5650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Payload: { email: user@foodwala.com, otp: "724132", ttl: 900s, status: "DISPATCHED" }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8BDF8"/>
                </a:solidFill>
              </a:rPr>
              <a:t>Real Transactional Email Screenshot • Delivered via EmailJS • Verified in Gmail Mailbox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Discovery &amp; Advanced Filtering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listing of Bengaluru eateries with multi-criteria filtering by cuisine, customer rating, delivery ETA, veg/non-veg, and budget.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4_restaurants_discove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http://localhost:5000/restaurants_discovery.html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Menu &amp; Item Customization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Dynamic restaurant catalog showing categorized dishes, prices, ratings, dietary tags, real-time availability badges, and instant cart addition.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5_restaurant_menu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http://localhost:5000/restaurant_menu.html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Food Search &amp; Typo-Tolerant Autocomplete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Real-time search bar with instant autocomplete suggestions powered by the Jaro-Winkler string similarity algorithm for typo resilience.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6_search_fe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http://localhost:5000/search_feature.html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Cart Management &amp; Live Bill Breakdown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Interactive shopping cart supporting item increment/decrement, real-time subtotal calculation, delivery fee, GST (5%), platform fee, and coupon application.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7_cart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http://localhost:5000/cart_page.html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Checkout &amp; Delivery Address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Streamlined checkout interface allowing users to choose saved delivery addresses, provide delivery instructions, and review order totals.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8_checkout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http://localhost:5000/checkout_page.html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Payment Gateway Integration — Razorpay &amp; COD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Integrated payment processing supporting Razorpay checkout modal (UPI, Debit/Credit cards, Net Banking) alongside Cash on Delivery options.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09_payment_scre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http://localhost:5000/payment_screen.html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Order Confirmation &amp; Instant Receipt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Post-purchase confirmation screen displaying generated Order ID, estimated arrival time, detailed item summary, and live tracking call-to-action.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0_order_confirm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http://localhost:5000/order_confirmation.html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Order Confirmation — Automated Transactional Email Receipt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Official order confirmation receipt delivered via EmailJS immediately following Razorpay transaction, detailing Order ID #41486, Vidyarthi Bhavan restaurant, and paid grand total.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4206240" cy="4590288"/>
          </a:xfrm>
          <a:prstGeom prst="roundRect">
            <a:avLst>
              <a:gd name="adj" fmla="val 1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20_email_order_receip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41248" y="1508760"/>
            <a:ext cx="3986784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66360" y="1417320"/>
            <a:ext cx="6291072" cy="4590288"/>
          </a:xfrm>
          <a:prstGeom prst="roundRect">
            <a:avLst>
              <a:gd name="adj" fmla="val 159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94960" y="1618488"/>
            <a:ext cx="2926080" cy="256032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1618488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TRANSACTIONAL ORDER CONFIRMATION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394960" y="1947672"/>
            <a:ext cx="5833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Automated Post-Checkout Email Receipt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394960" y="2286000"/>
            <a:ext cx="5833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Instant transactional order receipt dispatched to customer inbox upon successful payment.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394960" y="2697480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27432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Order ID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040880" y="2743200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Order #41486 • Vidyarthi Bhavan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394960" y="3118104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316382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Recipient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40880" y="3163824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Vishnu Vardhan Reddy (Customer Mailbox)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94960" y="3538728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0" y="358444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Total Paid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040880" y="3584448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Rs. 192.00 (Razorpay Test Sandbox)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94960" y="3959352"/>
            <a:ext cx="5833872" cy="347472"/>
          </a:xfrm>
          <a:prstGeom prst="roundRect">
            <a:avLst>
              <a:gd name="adj" fmla="val 1315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0" y="40050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Dispatched Items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040880" y="4005072"/>
            <a:ext cx="4142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Steamed Idli (2x), Medu Vada, Khara Bath, Benne Masala Dosa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394960" y="4471416"/>
            <a:ext cx="5833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Key Architectural Highlights: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394960" y="470916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Automated dispatch via EmailJS REST Client (emailService.js)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394960" y="4928616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Triggered atomically upon ACID transaction commit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394960" y="5148072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Itemized billing breakdown matching database record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394960" y="5367528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✓  Permanent audit record logged with order timestamp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394960" y="5550408"/>
            <a:ext cx="5833872" cy="320040"/>
          </a:xfrm>
          <a:prstGeom prst="roundRect">
            <a:avLst>
              <a:gd name="adj" fmla="val 14286"/>
            </a:avLst>
          </a:prstGeom>
          <a:solidFill>
            <a:srgbClr val="090E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86400" y="5550408"/>
            <a:ext cx="5650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Payload: { orderId: 41486, items: 4, grandTotal: "Rs. 192.00", channel: "EMAILJS_REST" }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8BDF8"/>
                </a:solidFill>
              </a:rPr>
              <a:t>Real Transactional Email Screenshot • Delivered via EmailJS • Verified in Gmail Mailbox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Live Order Tracking &amp; 5-Stage Status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Real-time order progress monitor tracking 5 distinct stages: Order Placed -&gt; Confirmed -&gt; Food Prepared -&gt; Out for Delivery -&gt; Delivered.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1_order_trac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http://localhost:5000/order_tracking.html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Order History &amp; Digital Invoices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log of past orders with timestamps, status tags, itemized costs, one-click re-order functionality, and invoice retrieval.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2_orders_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http://localhost:5000/orders_history.html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User Profile &amp; Account Management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Customer management portal showing personal profile details, contact information, password modification tools, and account security preferences.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3_profile_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http://localhost:5000/profile_page.html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Saved Delivery Addresses &amp; Geolocation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Address book management allowing users to save multiple locations (Home, Work, Other) with street details, landmarks, and default selections.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4_address_man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http://localhost:5000/address_management.html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Super Admin Console &amp; Platform Analytics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Platform management dashboard displaying system-wide gross merchandise volume (GMV), active restaurant approvals, user metrics, and revenue charts.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5_admin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http://localhost:5000/admin_dashboard.html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Restaurant Manager Dashboard &amp; Store Isolation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Store-isolated management portal allowing authorized managers to accept/reject incoming orders, update dish availability, and inspect sales trends.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6_restaurant_manager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http://localhost:5000/restaurant_manager_dashboard.html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5.19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Delivery Partner Fleet Portal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Dedicated driver mobile portal with real-time GPS coordinate reporting, assigned delivery orders list, and order delivery status updates.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7_delivery_partner_por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http://localhost:5000/delivery_partner_portal.html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5.20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WhatsApp 24/7 AI Assistance Desk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Dual-channel conversational AI assistant resolving customer queries, order status inquiries, menu suggestions, and escalation tickets.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8_whatsapp_ai_assist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Real Application Screenshot • 1920×1080 Viewport • http://localhost:5000/whatsapp_ai_assistant.html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New Features Added &amp; Innovative Capabilities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Visual showcase of production capabilities built beyond base requirement: Typo Search, WhatsApp AI Desk, Store Isolation, Dark Mode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65960" y="1371600"/>
            <a:ext cx="8257032" cy="4645152"/>
          </a:xfrm>
          <a:prstGeom prst="roundRect">
            <a:avLst>
              <a:gd name="adj" fmla="val 157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0" descr="D:\FoodWala_Eclipse_Project\presentation\screenshots\19_new_features_show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12264" y="1444752"/>
            <a:ext cx="7964424" cy="4480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Key Innovations: 1. Jaro-Winkler Typo Search • 2. 25-Intent WhatsApp AI Desk • 3. Store Data Isolation • 4. Adaptive Dark Mode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Important Algorithms &amp; Core Engineering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Mathematical and algorithmic logic driving search similarity, cart billing, transactional integrity, and NLP classification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212080" cy="2176272"/>
          </a:xfrm>
          <a:prstGeom prst="roundRect">
            <a:avLst>
              <a:gd name="adj" fmla="val 33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64592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4592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</a:rPr>
              <a:t>FUZZY SEARCH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161848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1. Jaro-Winkler String Distance Algorithm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Calculates transposition-aware string distance with common prefix bonus $l$ (max 4) and scaling factor $p = 0.1$: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237744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77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Sim(s1, s2) = Jaro(s1, s2) + l * p * (1 - Jaro(s1, s2))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286207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Matches user queries with menu item names and restaurant titles even with character swaps and typos.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45352" y="1508760"/>
            <a:ext cx="5212080" cy="2176272"/>
          </a:xfrm>
          <a:prstGeom prst="roundRect">
            <a:avLst>
              <a:gd name="adj" fmla="val 33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28232" y="164592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8232" y="164592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PRICING ENGINE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982712" y="161848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2. Cart Bill &amp; Discount Computation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28232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Deterministic multi-factor calculation computing subtotal, dynamic coupon discounts, taxes, and fees: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28232" y="237744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23774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= Subtotal - Discount(Code, Subtotal) + (Subtotal * 0.05) + FeePlatform + FeeDelivery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28232" y="286207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Validates coupon eligibility (min order threshold, max cap, expiration date) in one atomic evaluation.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1520" y="3886200"/>
            <a:ext cx="5212080" cy="2176272"/>
          </a:xfrm>
          <a:prstGeom prst="roundRect">
            <a:avLst>
              <a:gd name="adj" fmla="val 33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02336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02336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</a:rPr>
              <a:t>ATOMICITY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468880" y="39959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3. ACID-Compliant Order Placement Transaction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Multi-query transactional commit locking rows to prevent race conditions during checkout: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475488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4754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TRANSACTION -&gt; INSERT order -&gt; INSERT order_items -&gt; DEDUCT coupon -&gt; COMMIT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400" y="523951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Guarantees that if payment or item creation fails, all changes rollback without orphan records.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45352" y="3886200"/>
            <a:ext cx="5212080" cy="2176272"/>
          </a:xfrm>
          <a:prstGeom prst="roundRect">
            <a:avLst>
              <a:gd name="adj" fmla="val 33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023360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8232" y="402336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</a:rPr>
              <a:t>NLP CLASSIFIER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982712" y="39959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4. 25-Intent Rule-Based NLP Classification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28232" y="4343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Tokenizes user messages, performs regex-weighted pattern matching, and extracts parameter slots: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28232" y="4754880"/>
            <a:ext cx="4846320" cy="411480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9672" y="4754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Intent = argmax_i (Score(Pattern_i, Message)) with Slot Extraction [OrderID, Phone, Dish]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28232" y="5239512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Implementation: Routes message to instant responses (tracking, cancellation, menu) or triggers agent escalation ticket.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Major Engineering Challenge &amp; Solution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Architectural breakdown of WhatsApp Cloud API integration, webhook authentication, and fallback resilience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⚠️ The Technical Challenge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21031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Meta Cloud API 24-Hour Messaging Window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3317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WhatsApp Cloud API enforces a strict 24-hour service window. Outbound automated messages cannot reach users unless user-initiated within the timeframe or registered as approved business templates.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60120" y="31089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SHA-256 HMAC Webhook Verification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33756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Incoming webhook payloads from Meta require raw cryptographic signature verification (X-Hub-Signature-256). Express body-parser json parsing altered raw bytes, breaking signature validation.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60120" y="41148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Transient Tunnel Drops During Demos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34340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Local development tunnels (Cloudflare) occasionally reset connection hostnames, severing the webhook callback endpoint during live evaluative demonstrations.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45352" y="150876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✅ Architectural Solution &amp; Dual-Channel Resilience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73952" y="21031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Dual-Channel Architecture (WhatsApp + Web AI Widget)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73952" y="23317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Decoupled the AI intelligence layer into a shared standalone service. When WhatsApp API token expires or tunnel drops, the in-browser floating AI widget (#foodwalaHelpModal) provides 100% identical response capabilities.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73952" y="31089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Raw Body Preserving Webhook Middleware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73952" y="333756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Configured custom verify middleware in express.json({ verify: (req, res, buf) =&gt; req.rawBody = buf }) to maintain exact byte fidelity for flawless crypto.createHmac verification.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73952" y="41148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Self-Healing Cloudflare Tunnel Scripting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73952" y="434340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Automated background watchdog daemon monitoring tunnel health and dynamically updating webhook callback routing without server restarts.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Result: Zero downtime for end users • Instant fallback to browser AI desk if WhatsApp Cloud API is inaccessible.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SECTION 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Future Enhancements &amp; Platform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Strategic technical roadmap for high-scale microservices, automated logistics, and smart AI personalization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FoodWala — Bengaluru Food Discovery &amp; Delivery Platform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589520" y="6510528"/>
            <a:ext cx="3867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Confidential • Project Demonstration • Master Deck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64592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459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645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Bidirectional WebSocket Fleet Tracking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08760" y="19476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Upgrade from periodic HTTP polling to real-time Socket.IO / WebSockets for sub-second GPS coordinate streaming between delivery partners and customer tracking screens.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45352" y="150876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2512" y="164592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6459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22592" y="1645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Collaborative AI Dish Recommendation Engine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22592" y="19476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Deploy collaborative filtering and neural matrix factorization analyzing ordering patterns, time of day, weather, and dietary tags to suggest high-conversion meals.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29260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06324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0632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0632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Progressive Web App (PWA) &amp; Offline Menus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08760" y="33649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Implement Service Workers and Cache API to enable instant offline menu browsing and native Web Push notifications for order status transitions.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45352" y="292608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306324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30632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22592" y="30632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Multi-Restaurant Unified Cart Checkout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22592" y="33649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Enable customers to combine dishes from multiple nearby restaurants into a single unified cart with intelligent dual-pickup route batching.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1520" y="434340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448056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44805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508760" y="44805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Algorithmic Route Optimization &amp; Dispatch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08760" y="47823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Integrate Dijkstra / A* route graph optimization taking Bengaluru traffic congestion data into account to assign nearest optimal delivery riders.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5352" y="434340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82512" y="4480560"/>
            <a:ext cx="502920" cy="320040"/>
          </a:xfrm>
          <a:prstGeom prst="roundRect">
            <a:avLst>
              <a:gd name="adj" fmla="val 17143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4805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022592" y="44805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Multilingual Voice Food Ordering (Kannada / Hindi)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22592" y="47823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Integrate speech-to-text NLP allowing Bengaluru users to search menus, customize toppings, and place orders using vernacular voice commands.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08192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38BDF8"/>
                </a:solidFill>
              </a:rPr>
              <a:t>Roadmap Timeline: Q1 2027 — Q4 2027 • Architectural Evolution from Monolith to Event-Driven Microservices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28</Slides>
	<Notes>28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28</vt:i4></vt:variant>
		</vt:vector>
	</HeadingPairs>
	<TitlesOfParts>
		<vt:vector size="31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<vt:lpstr>Slide 13</vt:lpstr><vt:lpstr>Slide 14</vt:lpstr><vt:lpstr>Slide 15</vt:lpstr><vt:lpstr>Slide 16</vt:lpstr><vt:lpstr>Slide 17</vt:lpstr><vt:lpstr>Slide 18</vt:lpstr><vt:lpstr>Slide 19</vt:lpstr><vt:lpstr>Slide 20</vt:lpstr><vt:lpstr>Slide 21</vt:lpstr><vt:lpstr>Slide 22</vt:lpstr><vt:lpstr>Slide 23</vt:lpstr><vt:lpstr>Slide 24</vt:lpstr><vt:lpstr>Slide 25</vt:lpstr><vt:lpstr>Slide 26</vt:lpstr><vt:lpstr>Slide 27</vt:lpstr><vt:lpstr>Slide 28</vt:lpstr>
		</vt:vector>
	</TitlesOfParts>
	<Company>FoodWala — Bengaluru Discovery & Delivery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FoodWala Project Presentation</dc:title>
  <dc:subject>Comprehensive Project Demonstration &amp; Architecture</dc:subject>
  <dc:creator>FoodWala Engineering Team</dc:creator>
  <cp:lastModifiedBy>FoodWala Engineering Team</cp:lastModifiedBy>
  <cp:revision>1</cp:revision>
  <dcterms:created xsi:type="dcterms:W3CDTF">2026-10-30T08:33:25Z</dcterms:created>
  <dcterms:modified xsi:type="dcterms:W3CDTF">2026-10-30T08:33:25Z</dcterms:modified>
</cp:coreProperties>
</file>